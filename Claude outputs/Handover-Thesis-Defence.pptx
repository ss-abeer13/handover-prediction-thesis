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5"/>
    <p:sldId id="259" r:id="rId4"/>
    <p:sldId id="260" r:id="rId3"/>
    <p:sldId id="261" r:id="rId2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9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7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9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3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48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0772-4614-4CFE-9CA6-AF9447EA3AA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BAE6B-C845-4383-A9CC-4444E3E1D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5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841248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891313"/>
                </a:solidFill>
                <a:latin typeface="Arial"/>
              </a:rPr>
              <a:t>Uncertainty-Aware Multi-Horizon Handover Prediction
from Drive-Test Signalling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3113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2626"/>
                </a:solidFill>
                <a:latin typeface="Arial"/>
              </a:rPr>
              <a:t>How far ahead can the next LTE handover be seen, and with what guarantee?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863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262626"/>
                </a:solidFill>
                <a:latin typeface="Arial"/>
              </a:rPr>
              <a:t>Abeer Saadman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Student ID [ID]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Arial"/>
              </a:rPr>
              <a:t>Supervisor: [Supervisor Name, Title]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Department of Electrical and Electronic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777777"/>
                </a:solidFill>
                <a:latin typeface="Arial"/>
              </a:rPr>
              <a:t>Islamic University of Technology, Gazipur,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3075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B.Sc. Thesis Defence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LTE hands over with a rule that acts only after the radio has already changed</a:t>
            </a:r>
          </a:p>
        </p:txBody>
      </p:sp>
      <p:pic>
        <p:nvPicPr>
          <p:cNvPr id="5" name="Picture 4" descr="fig01_a3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7" y="2258568"/>
            <a:ext cx="596152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A3 is reactive. </a:t>
            </a:r>
            <a:r>
              <a:rPr sz="1800">
                <a:solidFill>
                  <a:srgbClr val="262626"/>
                </a:solidFill>
                <a:latin typeface="Arial"/>
              </a:rPr>
              <a:t>It fires once a neighbour is already better by an offset, and stays better through a time-to-trigger.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Everything downstream follows: </a:t>
            </a:r>
            <a:r>
              <a:rPr sz="1800">
                <a:solidFill>
                  <a:srgbClr val="262626"/>
                </a:solidFill>
                <a:latin typeface="Arial"/>
              </a:rPr>
              <a:t>the interruption, the throughput dip, the ping-pong back.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or two seconds of warning </a:t>
            </a:r>
            <a:r>
              <a:rPr sz="1800">
                <a:solidFill>
                  <a:srgbClr val="262626"/>
                </a:solidFill>
                <a:latin typeface="Arial"/>
              </a:rPr>
              <a:t>is enough to prepare, pre-empt or suppress.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Entering condition and TTT per 3GPP TS 36.331. Curves illustrative; parameters are the deployed ones (+1 dB offset, 1 dB hysteresis, 320 ms TTT).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question this thesis answers, stated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331720"/>
            <a:ext cx="9418320" cy="1234440"/>
          </a:xfrm>
          <a:prstGeom prst="roundRect">
            <a:avLst/>
          </a:prstGeom>
          <a:solidFill>
            <a:srgbClr val="F7F0F0"/>
          </a:solidFill>
          <a:ln w="19050">
            <a:solidFill>
              <a:srgbClr val="891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Given what a phone can observe right now, how well can the next handover be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100" b="1" i="0">
                <a:solidFill>
                  <a:srgbClr val="891313"/>
                </a:solidFill>
                <a:latin typeface="Arial"/>
              </a:rPr>
              <a:t>predicted, how far ahead, and with what guarantee?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4241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well?  </a:t>
            </a:r>
            <a:r>
              <a:rPr sz="2000">
                <a:solidFill>
                  <a:srgbClr val="262626"/>
                </a:solidFill>
                <a:latin typeface="Arial"/>
              </a:rPr>
              <a:t>Against a prevalence-aware floor, never accuracy on an imbalanced task.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How far ahead?  </a:t>
            </a:r>
            <a:r>
              <a:rPr sz="2000">
                <a:solidFill>
                  <a:srgbClr val="262626"/>
                </a:solidFill>
                <a:latin typeface="Arial"/>
              </a:rPr>
              <a:t>0.5, 1, 2, 3 and 5 seconds, with the horizons kept mutually coherent.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With what guarantee?  </a:t>
            </a:r>
            <a:r>
              <a:rPr sz="2000">
                <a:solidFill>
                  <a:srgbClr val="262626"/>
                </a:solidFill>
                <a:latin typeface="Arial"/>
              </a:rPr>
              <a:t>A distribution-free bound on missed handovers, per drive.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891313"/>
                </a:solidFill>
                <a:latin typeface="Arial"/>
              </a:rPr>
              <a:t>On what evidence?  </a:t>
            </a:r>
            <a:r>
              <a:rPr sz="2000">
                <a:solidFill>
                  <a:srgbClr val="262626"/>
                </a:solidFill>
                <a:latin typeface="Arial"/>
              </a:rPr>
              <a:t>Real drive-test data with handover truth from decoded RRC signalling.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How the argument runs, end to end</a:t>
            </a:r>
          </a:p>
        </p:txBody>
      </p:sp>
      <p:pic>
        <p:nvPicPr>
          <p:cNvPr id="5" name="Picture 4" descr="m08_narr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12848"/>
            <a:ext cx="10515600" cy="2111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Two halves have to hold together: </a:t>
            </a:r>
            <a:r>
              <a:rPr sz="1600">
                <a:solidFill>
                  <a:srgbClr val="262626"/>
                </a:solidFill>
                <a:latin typeface="Arial"/>
              </a:rPr>
              <a:t>measurement-grade ground truth, and a protocol a machine-learning reviewer would accept.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25064"/>
            <a:ext cx="5074920" cy="147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Everything after this slide </a:t>
            </a:r>
            <a:r>
              <a:rPr sz="1600">
                <a:solidFill>
                  <a:srgbClr val="262626"/>
                </a:solidFill>
                <a:latin typeface="Arial"/>
              </a:rPr>
              <a:t>is one of those two halves, or a result that needed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literatures exist, and neither does what a deployable predictor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4983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Measurement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Deng et al., IMC 2018: </a:t>
            </a:r>
            <a:r>
              <a:rPr sz="1700">
                <a:solidFill>
                  <a:srgbClr val="262626"/>
                </a:solidFill>
                <a:latin typeface="Arial"/>
              </a:rPr>
              <a:t>recover operator mobility configurations from signalling.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Ghoshal et al., 2025: </a:t>
            </a:r>
            <a:r>
              <a:rPr sz="1700">
                <a:solidFill>
                  <a:srgbClr val="262626"/>
                </a:solidFill>
                <a:latin typeface="Arial"/>
              </a:rPr>
              <a:t>handover configurations across three US operators, 48k handovers.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measurement-grade ground truth.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they build no predictor.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04288"/>
            <a:ext cx="50749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Prediction studies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108 references screened over three passes; </a:t>
            </a:r>
            <a:r>
              <a:rPr sz="1700">
                <a:solidFill>
                  <a:srgbClr val="262626"/>
                </a:solidFill>
                <a:latin typeface="Arial"/>
              </a:rPr>
              <a:t>22 predict handover, radio-link failure or next-cell occupancy.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Mostly simulation, </a:t>
            </a:r>
            <a:r>
              <a:rPr sz="1700">
                <a:solidFill>
                  <a:srgbClr val="262626"/>
                </a:solidFill>
                <a:latin typeface="Arial"/>
              </a:rPr>
              <a:t>mostly without grouped splits.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Strength: </a:t>
            </a:r>
            <a:r>
              <a:rPr sz="1700">
                <a:solidFill>
                  <a:srgbClr val="262626"/>
                </a:solidFill>
                <a:latin typeface="Arial"/>
              </a:rPr>
              <a:t>models and architectures.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Gap: </a:t>
            </a:r>
            <a:r>
              <a:rPr sz="1700">
                <a:solidFill>
                  <a:srgbClr val="262626"/>
                </a:solidFill>
                <a:latin typeface="Arial"/>
              </a:rPr>
              <a:t>protocol, calibration, operating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Deng et al. (2018) IMC; Ghoshal et al. (2025) arXiv:2511.03116. Screening protocol and full audit in the 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Of 22 comparable papers, none splits by drive and none reports calibration</a:t>
            </a:r>
          </a:p>
        </p:txBody>
      </p:sp>
      <p:pic>
        <p:nvPicPr>
          <p:cNvPr id="5" name="Picture 4" descr="fig06_protoc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291" y="2258568"/>
            <a:ext cx="6102432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audit is on protocol, </a:t>
            </a:r>
            <a:r>
              <a:rPr sz="1800">
                <a:solidFill>
                  <a:srgbClr val="262626"/>
                </a:solidFill>
                <a:latin typeface="Arial"/>
              </a:rPr>
              <a:t>not on headline numbers.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survey was widened twice. </a:t>
            </a:r>
            <a:r>
              <a:rPr sz="1800">
                <a:solidFill>
                  <a:srgbClr val="262626"/>
                </a:solidFill>
                <a:latin typeface="Arial"/>
              </a:rPr>
              <a:t>These rows did not move.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Naming the exceptions: </a:t>
            </a:r>
            <a:r>
              <a:rPr sz="1800">
                <a:solidFill>
                  <a:srgbClr val="262626"/>
                </a:solidFill>
                <a:latin typeface="Arial"/>
              </a:rPr>
              <a:t>five split on a unit coarser than a row - by zone, device, time, travel day, deployment event. None is a per-timestep task on measured radio.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This is the gap: </a:t>
            </a:r>
            <a:r>
              <a:rPr sz="1800">
                <a:solidFill>
                  <a:srgbClr val="262626"/>
                </a:solidFill>
                <a:latin typeface="Arial"/>
              </a:rPr>
              <a:t>measurement-grade truth on one side, an ML-grade protocol on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Screened set of 108 references; 22 are models predicting handover, RLF or next-cell occupancy. Counting rules stated in the 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literatures nearly meet here, and none of them quite touches</a:t>
            </a:r>
          </a:p>
        </p:txBody>
      </p:sp>
      <p:pic>
        <p:nvPicPr>
          <p:cNvPr id="5" name="Picture 4" descr="m11_li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32" y="2212848"/>
            <a:ext cx="791903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Measurement studies have the ground truth </a:t>
            </a:r>
            <a:r>
              <a:rPr sz="1600">
                <a:solidFill>
                  <a:srgbClr val="262626"/>
                </a:solidFill>
                <a:latin typeface="Arial"/>
              </a:rPr>
              <a:t>and build no predictor.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Prediction studies build predictors </a:t>
            </a:r>
            <a:r>
              <a:rPr sz="1600">
                <a:solidFill>
                  <a:srgbClr val="262626"/>
                </a:solidFill>
                <a:latin typeface="Arial"/>
              </a:rPr>
              <a:t>on simulation, without grouped splits, without calibration.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Survival and point-process methods are mature </a:t>
            </a:r>
            <a:r>
              <a:rPr sz="1600">
                <a:solidFill>
                  <a:srgbClr val="262626"/>
                </a:solidFill>
                <a:latin typeface="Arial"/>
              </a:rPr>
              <a:t>and have never been aimed at a drive test.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Conformal has entered wireless, </a:t>
            </a:r>
            <a:r>
              <a:rPr sz="1600">
                <a:solidFill>
                  <a:srgbClr val="262626"/>
                </a:solidFill>
                <a:latin typeface="Arial"/>
              </a:rPr>
              <a:t>but for i.i.d.-in-frame signal processing, not a mobility event stream.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Pass-3 literature map. Full thread-by-thread synthesis in the thesis.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method here is borrowed on purpose; what is new is where it is pointed</a:t>
            </a:r>
          </a:p>
        </p:txBody>
      </p:sp>
      <p:pic>
        <p:nvPicPr>
          <p:cNvPr id="5" name="Picture 4" descr="m12_prov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52" y="2212848"/>
            <a:ext cx="808519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Nothing here is invented. </a:t>
            </a:r>
            <a:r>
              <a:rPr sz="1600">
                <a:solidFill>
                  <a:srgbClr val="262626"/>
                </a:solidFill>
                <a:latin typeface="Arial"/>
              </a:rPr>
              <a:t>Every component has a primary source.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Residual-testing a Hawkes fit is the local norm </a:t>
            </a:r>
            <a:r>
              <a:rPr sz="1600">
                <a:solidFill>
                  <a:srgbClr val="262626"/>
                </a:solidFill>
                <a:latin typeface="Arial"/>
              </a:rPr>
              <a:t>in network traffic, not a flourish.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CORAL null is credible: </a:t>
            </a:r>
            <a:r>
              <a:rPr sz="1600">
                <a:solidFill>
                  <a:srgbClr val="262626"/>
                </a:solidFill>
                <a:latin typeface="Arial"/>
              </a:rPr>
              <a:t>a nine-method benchmark finds published adaptors losing to source-only training.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Borrowing well is a contribution </a:t>
            </a:r>
            <a:r>
              <a:rPr sz="1600">
                <a:solidFill>
                  <a:srgbClr val="262626"/>
                </a:solidFill>
                <a:latin typeface="Arial"/>
              </a:rPr>
              <a:t>when the pairing is new and the protocol is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Primary sources cited in the section that uses each method, not only in related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Two claims the widened survey forced me to make smaller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Conformal prediction in wireless is not new.  </a:t>
            </a:r>
            <a:r>
              <a:rPr sz="1700">
                <a:solidFill>
                  <a:srgbClr val="262626"/>
                </a:solidFill>
                <a:latin typeface="Arial"/>
              </a:rPr>
              <a:t>Cohen et al. (2022) and Simeone et al. (2025) got there first. What survives as mine is narrower and better defended: their guarantee is over prediction SETS for tasks that are i.i.d. within a frame; mine is a RISK guarantee on an operator KPI over a stream exchangeable only by whole drive. The exchangeability unit is the contribution; the feasibility floor n ≥ 1/α − 1 is its consequence.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grouped-split claim has now been amended twice.  </a:t>
            </a:r>
            <a:r>
              <a:rPr sz="1700">
                <a:solidFill>
                  <a:srgbClr val="262626"/>
                </a:solidFill>
                <a:latin typeface="Arial"/>
              </a:rPr>
              <a:t>Doc 21 found one paper splitting by time. Pass 3 found two more - by travel day, and by deployment event. The honest form: ten of 22 state no split at all, five split on a unit coarser than a row, and none holds out the mobility unit for a per-timestep classification task on measured radio.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Why say this out loud in a defence.  </a:t>
            </a:r>
            <a:r>
              <a:rPr sz="1700">
                <a:solidFill>
                  <a:srgbClr val="262626"/>
                </a:solidFill>
                <a:latin typeface="Arial"/>
              </a:rPr>
              <a:t>The leakage result in this talk does not depend on scarcity. It depends on the inflation being real and differential - 92% for a GRU against 12% for logistic regression - and that was measured, not asserted.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Doc 22, sections 2M and 4. Both narrowed claims are stated in the thesis limitations section as well as in the positioning section.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measId and reportConfigId are message-scoped, so a flat parse misattributes silently</a:t>
            </a:r>
          </a:p>
        </p:txBody>
      </p:sp>
      <p:pic>
        <p:nvPicPr>
          <p:cNvPr id="5" name="Picture 4" descr="m02_sign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57" y="2212848"/>
            <a:ext cx="930238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symptom that gave it away: </a:t>
            </a:r>
            <a:r>
              <a:rPr sz="1600">
                <a:solidFill>
                  <a:srgbClr val="262626"/>
                </a:solidFill>
                <a:latin typeface="Arial"/>
              </a:rPr>
              <a:t>99.4% of reports resolved to A3, which is impossible when 43% of reports carry no neighbour.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Found by comparison, not by inspection </a:t>
            </a:r>
            <a:r>
              <a:rPr sz="1600">
                <a:solidFill>
                  <a:srgbClr val="262626"/>
                </a:solidFill>
                <a:latin typeface="Arial"/>
              </a:rPr>
              <a:t>- checking our extraction against a published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changed four claims, </a:t>
            </a:r>
            <a:r>
              <a:rPr sz="1600">
                <a:solidFill>
                  <a:srgbClr val="262626"/>
                </a:solidFill>
                <a:latin typeface="Arial"/>
              </a:rPr>
              <a:t>two of them ours. The deployed offsets are negative, not the +3 dB assumed in published work on this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RRC measConfig is incremental: AddMod inserts or replaces. The timeline reconstructs the state in force at each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43 drives over one Dhaka corridor, 761 confirmed handovers</a:t>
            </a:r>
          </a:p>
        </p:txBody>
      </p:sp>
      <p:pic>
        <p:nvPicPr>
          <p:cNvPr id="5" name="Picture 4" descr="fig03_map_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One corridor, three days. </a:t>
            </a:r>
            <a:r>
              <a:rPr sz="1900">
                <a:solidFill>
                  <a:srgbClr val="262626"/>
                </a:solidFill>
                <a:latin typeface="Arial"/>
              </a:rPr>
              <a:t>Uttara to BRAC University, repeated traversals in evening traffic.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The drive is the unit of everything: </a:t>
            </a:r>
            <a:r>
              <a:rPr sz="1900">
                <a:solidFill>
                  <a:srgbClr val="262626"/>
                </a:solidFill>
                <a:latin typeface="Arial"/>
              </a:rPr>
              <a:t>segmentation, grouping, bootstrap, and the risk-control guarantee.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Handovers are dense: </a:t>
            </a:r>
            <a:r>
              <a:rPr sz="1900">
                <a:solidFill>
                  <a:srgbClr val="262626"/>
                </a:solidFill>
                <a:latin typeface="Arial"/>
              </a:rPr>
              <a:t>roughly one every ten seconds of driving.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GPS from the XCAL export; handover positions joined to the 1 Hz grid by nearest timestamp.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cluster where the link is weak; 28% are ping-pongs</a:t>
            </a:r>
          </a:p>
        </p:txBody>
      </p:sp>
      <p:pic>
        <p:nvPicPr>
          <p:cNvPr id="5" name="Picture 4" descr="fig04_map_rs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78" y="1801368"/>
            <a:ext cx="3246666" cy="41970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2487168"/>
            <a:ext cx="676656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Ping-pong is not rare: </a:t>
            </a:r>
            <a:r>
              <a:rPr sz="1900">
                <a:solidFill>
                  <a:srgbClr val="262626"/>
                </a:solidFill>
                <a:latin typeface="Arial"/>
              </a:rPr>
              <a:t>215 of 761 handovers return to the cell just left.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It is not uniform either: </a:t>
            </a:r>
            <a:r>
              <a:rPr sz="1900">
                <a:solidFill>
                  <a:srgbClr val="262626"/>
                </a:solidFill>
                <a:latin typeface="Arial"/>
              </a:rPr>
              <a:t>the clusters sit at specific junctions, not along the whole route.</a:t>
            </a:r>
          </a:p>
          <a:p>
            <a:pPr>
              <a:spcAft>
                <a:spcPts val="1700"/>
              </a:spcAft>
            </a:pPr>
            <a:r>
              <a:rPr sz="1900" b="1">
                <a:solidFill>
                  <a:srgbClr val="891313"/>
                </a:solidFill>
                <a:latin typeface="Arial"/>
              </a:rPr>
              <a:t>This is what motivates </a:t>
            </a:r>
            <a:r>
              <a:rPr sz="1900">
                <a:solidFill>
                  <a:srgbClr val="262626"/>
                </a:solidFill>
                <a:latin typeface="Arial"/>
              </a:rPr>
              <a:t>the self-exciting point-process analysis later in the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Ping-pong defined at the literature-standard 15 s return window with a per-handover denominator. Figure generated in MATLAB over OpenStreetMap tiles (map data (c) OpenStreetMap contributors, ODbL).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horizon is a rare-event problem, so every metric is read against its floor</a:t>
            </a:r>
          </a:p>
        </p:txBody>
      </p:sp>
      <p:pic>
        <p:nvPicPr>
          <p:cNvPr id="5" name="Picture 4" descr="fig05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7,740 samples </a:t>
            </a:r>
            <a:r>
              <a:rPr sz="1800">
                <a:solidFill>
                  <a:srgbClr val="262626"/>
                </a:solidFill>
                <a:latin typeface="Arial"/>
              </a:rPr>
              <a:t>on a uniform 1 Hz grid across 43 drives.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Prevalence moves </a:t>
            </a:r>
            <a:r>
              <a:rPr sz="1800">
                <a:solidFill>
                  <a:srgbClr val="262626"/>
                </a:solidFill>
                <a:latin typeface="Arial"/>
              </a:rPr>
              <a:t>from 4.2% at 0.5 s to 27.7% at 5 s - accuracy would be meaningless.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0.5 s horizon is legitimate: </a:t>
            </a:r>
            <a:r>
              <a:rPr sz="1800">
                <a:solidFill>
                  <a:srgbClr val="262626"/>
                </a:solidFill>
                <a:latin typeface="Arial"/>
              </a:rPr>
              <a:t>the event clock is millisecond-precise even though the sample clock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Label prevalence computed on labelable samples only; drives shorter than 60 s are rejected by quality control.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One pipeline, with the leakage guards built into its architecture</a:t>
            </a:r>
          </a:p>
        </p:txBody>
      </p:sp>
      <p:pic>
        <p:nvPicPr>
          <p:cNvPr id="5" name="Picture 4" descr="m0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12848"/>
            <a:ext cx="10515600" cy="2212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26494"/>
            <a:ext cx="5074920" cy="1371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18 stages, 17 passing tests. </a:t>
            </a:r>
            <a:r>
              <a:rPr sz="1600">
                <a:solidFill>
                  <a:srgbClr val="262626"/>
                </a:solidFill>
                <a:latin typeface="Arial"/>
              </a:rPr>
              <a:t>Every number in the thesis is written by a stage, not typed.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guards are structural, not conventions: </a:t>
            </a:r>
            <a:r>
              <a:rPr sz="1600">
                <a:solidFill>
                  <a:srgbClr val="262626"/>
                </a:solidFill>
                <a:latin typeface="Arial"/>
              </a:rPr>
              <a:t>grouping is by whole drive, and nothing from a test fold is ever fitted.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26494"/>
            <a:ext cx="5074920" cy="13719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Reproducible: </a:t>
            </a:r>
            <a:r>
              <a:rPr sz="1600">
                <a:solidFill>
                  <a:srgbClr val="262626"/>
                </a:solidFill>
                <a:latin typeface="Arial"/>
              </a:rPr>
              <a:t>a rebuild from the raw captures returns 7,740 samples and 761 handovers exactly.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 prediction is a discrete-time survival problem, not five separate binary tasks</a:t>
            </a:r>
          </a:p>
        </p:txBody>
      </p:sp>
      <p:pic>
        <p:nvPicPr>
          <p:cNvPr id="5" name="Picture 4" descr="m04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78" y="2212848"/>
            <a:ext cx="8838538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Five independent heads can contradict each other. </a:t>
            </a:r>
            <a:r>
              <a:rPr sz="1600">
                <a:solidFill>
                  <a:srgbClr val="262626"/>
                </a:solidFill>
                <a:latin typeface="Arial"/>
              </a:rPr>
              <a:t>A 1 s alarm above a 2 s alarm is impossible, yet 47% of rows did exactly that.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hazard fit fixes it by identity, </a:t>
            </a:r>
            <a:r>
              <a:rPr sz="1600">
                <a:solidFill>
                  <a:srgbClr val="262626"/>
                </a:solidFill>
                <a:latin typeface="Arial"/>
              </a:rPr>
              <a:t>not by post-processing - and the property holds for any learner.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One consequence worth stating: </a:t>
            </a:r>
            <a:r>
              <a:rPr sz="1600">
                <a:solidFill>
                  <a:srgbClr val="262626"/>
                </a:solidFill>
                <a:latin typeface="Arial"/>
              </a:rPr>
              <a:t>class reweighting is forbidden here, because it compounds through the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Discrete-time survival with right-censoring at the end of each drive.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Every drive is tested exactly once, and nothing from a test fold is ever fitted</a:t>
            </a:r>
          </a:p>
        </p:txBody>
      </p:sp>
      <p:pic>
        <p:nvPicPr>
          <p:cNvPr id="5" name="Picture 4" descr="m03_protoc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161" y="2212848"/>
            <a:ext cx="726577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 not one 15% split? </a:t>
            </a:r>
            <a:r>
              <a:rPr sz="1600">
                <a:solidFill>
                  <a:srgbClr val="262626"/>
                </a:solidFill>
                <a:latin typeface="Arial"/>
              </a:rPr>
              <a:t>43 drives leave 6 in test, and a bootstrap over 6 groups is wide for the wrong reason.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Paired testing needs power: </a:t>
            </a:r>
            <a:r>
              <a:rPr sz="1600">
                <a:solidFill>
                  <a:srgbClr val="262626"/>
                </a:solidFill>
                <a:latin typeface="Arial"/>
              </a:rPr>
              <a:t>with 4 folds a two-sided Wilcoxon cannot return below p = 0.125 whatever the data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So the whole rotation repeats </a:t>
            </a:r>
            <a:r>
              <a:rPr sz="1600">
                <a:solidFill>
                  <a:srgbClr val="262626"/>
                </a:solidFill>
                <a:latin typeface="Arial"/>
              </a:rPr>
              <a:t>over 5 seeds, giving 20 paired observations and a bootstrap interval on every delta.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Gradient boosting reaches AUROC 0.933 at 1 s - eleven times the prevalence floor</a:t>
            </a:r>
          </a:p>
        </p:txBody>
      </p:sp>
      <p:pic>
        <p:nvPicPr>
          <p:cNvPr id="5" name="Picture 4" descr="fig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AUPRC 0.797 at 1 s, </a:t>
            </a:r>
            <a:r>
              <a:rPr sz="1800">
                <a:solidFill>
                  <a:srgbClr val="262626"/>
                </a:solidFill>
                <a:latin typeface="Arial"/>
              </a:rPr>
              <a:t>ECE 0.025, recall 0.754 at a 5% false-positive rate.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linear model is second. </a:t>
            </a:r>
            <a:r>
              <a:rPr sz="1800">
                <a:solidFill>
                  <a:srgbClr val="262626"/>
                </a:solidFill>
                <a:latin typeface="Arial"/>
              </a:rPr>
              <a:t>On 43 drives the sequence models have nothing extra to learn.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deployed rule </a:t>
            </a:r>
            <a:r>
              <a:rPr sz="1800">
                <a:solidFill>
                  <a:srgbClr val="262626"/>
                </a:solidFill>
                <a:latin typeface="Arial"/>
              </a:rPr>
              <a:t>reaches AUROC 0.656 and detects 5.5% of handovers one second ahead.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Event level: </a:t>
            </a:r>
            <a:r>
              <a:rPr sz="1800">
                <a:solidFill>
                  <a:srgbClr val="262626"/>
                </a:solidFill>
                <a:latin typeface="Arial"/>
              </a:rPr>
              <a:t>44.9% of handovers detected at 1 s, 68.1% at 5 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Out-of-fold over 43 drives under the grouped rotation. Figure generated in MATLAB from the pipeline tables.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Before claiming a winner, every model was given the same tuning budget</a:t>
            </a:r>
          </a:p>
        </p:txBody>
      </p:sp>
      <p:pic>
        <p:nvPicPr>
          <p:cNvPr id="5" name="Picture 4" descr="m06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209" y="2212848"/>
            <a:ext cx="5951677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objection is standard </a:t>
            </a:r>
            <a:r>
              <a:rPr sz="1600">
                <a:solidFill>
                  <a:srgbClr val="262626"/>
                </a:solidFill>
                <a:latin typeface="Arial"/>
              </a:rPr>
              <a:t>and it deserved a measurement rather than an argument: the deep baselines are under-tuned.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Equal means equal: </a:t>
            </a:r>
            <a:r>
              <a:rPr sz="1600">
                <a:solidFill>
                  <a:srgbClr val="262626"/>
                </a:solidFill>
                <a:latin typeface="Arial"/>
              </a:rPr>
              <a:t>the same number of trials, the same objective, the same folds, the same seed.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 default arm is re-run here too, </a:t>
            </a:r>
            <a:r>
              <a:rPr sz="1600">
                <a:solidFill>
                  <a:srgbClr val="262626"/>
                </a:solidFill>
                <a:latin typeface="Arial"/>
              </a:rPr>
              <a:t>so the two arms differ by the parameters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Objective is mean inner AUPRC at the 2 s horizon - the middle horizon, so nothing is tuned to an extreme.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deep baselines really were under-tuned - and it does not change the answer</a:t>
            </a:r>
          </a:p>
        </p:txBody>
      </p:sp>
      <p:pic>
        <p:nvPicPr>
          <p:cNvPr id="5" name="Picture 4" descr="fig11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gain a lot: </a:t>
            </a:r>
            <a:r>
              <a:rPr sz="1800">
                <a:solidFill>
                  <a:srgbClr val="262626"/>
                </a:solidFill>
                <a:latin typeface="Arial"/>
              </a:rPr>
              <a:t>Transformer +0.109 AUPRC, TCN +0.102, both far outside their confidence intervals.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They still lose: </a:t>
            </a:r>
            <a:r>
              <a:rPr sz="1800">
                <a:solidFill>
                  <a:srgbClr val="262626"/>
                </a:solidFill>
                <a:latin typeface="Arial"/>
              </a:rPr>
              <a:t>no tuned sequence model reaches an untuned logistic regression.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Tuning LightGBM costs 0.021, </a:t>
            </a:r>
            <a:r>
              <a:rPr sz="1800">
                <a:solidFill>
                  <a:srgbClr val="262626"/>
                </a:solidFill>
                <a:latin typeface="Arial"/>
              </a:rPr>
              <a:t>so its margin is not an artefact of favourable defaults.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One correction falls out: </a:t>
            </a:r>
            <a:r>
              <a:rPr sz="1800">
                <a:solidFill>
                  <a:srgbClr val="262626"/>
                </a:solidFill>
                <a:latin typeface="Arial"/>
              </a:rPr>
              <a:t>logistic regression's ECE of 0.123 was a class-weight artefact; tuned it is 0.010.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Paired deltas with a drive-level bootstrap interval, 1 s horizon.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Leakage is architecture-dependent: a GRU inflates by 92%, LightGBM by 18%</a:t>
            </a:r>
          </a:p>
        </p:txBody>
      </p:sp>
      <p:pic>
        <p:nvPicPr>
          <p:cNvPr id="5" name="Picture 4" descr="fig12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Same data, same metrics. </a:t>
            </a:r>
            <a:r>
              <a:rPr sz="1800">
                <a:solidFill>
                  <a:srgbClr val="262626"/>
                </a:solidFill>
                <a:latin typeface="Arial"/>
              </a:rPr>
              <a:t>The only change is replacing grouped-drive with random-row splitting.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mechanism: </a:t>
            </a:r>
            <a:r>
              <a:rPr sz="1800">
                <a:solidFill>
                  <a:srgbClr val="262626"/>
                </a:solidFill>
                <a:latin typeface="Arial"/>
              </a:rPr>
              <a:t>a 10 s window straddling a random split shares samples with its own training set.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Implication for the literature: </a:t>
            </a:r>
            <a:r>
              <a:rPr sz="1800">
                <a:solidFill>
                  <a:srgbClr val="262626"/>
                </a:solidFill>
                <a:latin typeface="Arial"/>
              </a:rPr>
              <a:t>a published GRU result on a randomly split drive-test set reads as roughly double.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Both arms run under an identical protocol, or the comparison would measure the protocol rather than the leak.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hazard model earns coherence; per-horizon calibration buys ECE and destroys it</a:t>
            </a:r>
          </a:p>
        </p:txBody>
      </p:sp>
      <p:pic>
        <p:nvPicPr>
          <p:cNvPr id="5" name="Picture 4" descr="fig13_hazard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Calibration: </a:t>
            </a:r>
            <a:r>
              <a:rPr sz="1800">
                <a:solidFill>
                  <a:srgbClr val="262626"/>
                </a:solidFill>
                <a:latin typeface="Arial"/>
              </a:rPr>
              <a:t>better than an uncalibrated baseline, ECE -0.006 to -0.030, p &lt; 0.0001 over 20 paired folds.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But a calibrated baseline wins on ECE </a:t>
            </a:r>
            <a:r>
              <a:rPr sz="1800">
                <a:solidFill>
                  <a:srgbClr val="262626"/>
                </a:solidFill>
                <a:latin typeface="Arial"/>
              </a:rPr>
              <a:t>- at the cost of a held-out split and 2-5 AUPRC points.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Isotonic alone makes coherence worse: </a:t>
            </a:r>
            <a:r>
              <a:rPr sz="1800">
                <a:solidFill>
                  <a:srgbClr val="262626"/>
                </a:solidFill>
                <a:latin typeface="Arial"/>
              </a:rPr>
              <a:t>maximum violation grows from 0.484 to 0.585.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claim, narrowed: </a:t>
            </a:r>
            <a:r>
              <a:rPr sz="1800">
                <a:solidFill>
                  <a:srgbClr val="262626"/>
                </a:solidFill>
                <a:latin typeface="Arial"/>
              </a:rPr>
              <a:t>calibration, coherence and ranking together, from one 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Six arms on identical folds, 5 seeds x 4 folds = 20 paired observations.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distribution-free bound on missed handovers, and what it costs to hold it</a:t>
            </a:r>
          </a:p>
        </p:txBody>
      </p:sp>
      <p:pic>
        <p:nvPicPr>
          <p:cNvPr id="5" name="Picture 4" descr="m05_c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826" y="2212848"/>
            <a:ext cx="715444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Not my machinery. </a:t>
            </a:r>
            <a:r>
              <a:rPr sz="1600">
                <a:solidFill>
                  <a:srgbClr val="262626"/>
                </a:solidFill>
                <a:latin typeface="Arial"/>
              </a:rPr>
              <a:t>Conformal is already in wireless: Cohen 2022, Simeone 2025.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Mine is the exchangeable unit: </a:t>
            </a:r>
            <a:r>
              <a:rPr sz="1600">
                <a:solidFill>
                  <a:srgbClr val="262626"/>
                </a:solidFill>
                <a:latin typeface="Arial"/>
              </a:rPr>
              <a:t>the whole drive, which sets the floor n ≥ 1/α − 1.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Honest about price: </a:t>
            </a:r>
            <a:r>
              <a:rPr sz="1600">
                <a:solidFill>
                  <a:srgbClr val="262626"/>
                </a:solidFill>
                <a:latin typeface="Arial"/>
              </a:rPr>
              <a:t>at a 20% target the threshold alarms on 27% of samples.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Below a 15% target it rises steeply, </a:t>
            </a:r>
            <a:r>
              <a:rPr sz="1600">
                <a:solidFill>
                  <a:srgbClr val="262626"/>
                </a:solidFill>
                <a:latin typeface="Arial"/>
              </a:rPr>
              <a:t>and the frontier is published, not one flattering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Prior wireless conformal work bounds prediction SETS for i.i.d.-within-frame tasks; this bounds a KPI over a per-drive exchangeable stream.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guarantee is affordable above a 15% miss rate and expensive below it</a:t>
            </a:r>
          </a:p>
        </p:txBody>
      </p:sp>
      <p:pic>
        <p:nvPicPr>
          <p:cNvPr id="5" name="Picture 4" descr="fig14_risk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50" y="2258568"/>
            <a:ext cx="580711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Two curves, one decision: </a:t>
            </a:r>
            <a:r>
              <a:rPr sz="1800">
                <a:solidFill>
                  <a:srgbClr val="262626"/>
                </a:solidFill>
                <a:latin typeface="Arial"/>
              </a:rPr>
              <a:t>the certified alarm rate falls as the tolerated miss rate rises.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0.20: </a:t>
            </a:r>
            <a:r>
              <a:rPr sz="1800">
                <a:solidFill>
                  <a:srgbClr val="262626"/>
                </a:solidFill>
                <a:latin typeface="Arial"/>
              </a:rPr>
              <a:t>alarms on 27% of samples, misses 11.5% of handovers, bound held on 95% of test drives.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At alpha = 0.05 the alarm rate is 82%, </a:t>
            </a:r>
            <a:r>
              <a:rPr sz="1800">
                <a:solidFill>
                  <a:srgbClr val="262626"/>
                </a:solidFill>
                <a:latin typeface="Arial"/>
              </a:rPr>
              <a:t>which is a guarantee nobody would deploy.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Stated, not implied: </a:t>
            </a:r>
            <a:r>
              <a:rPr sz="1800">
                <a:solidFill>
                  <a:srgbClr val="262626"/>
                </a:solidFill>
                <a:latin typeface="Arial"/>
              </a:rPr>
              <a:t>a distribution-free bound is not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Realised test miss rate stays below the target at every operating point on the frontier.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Real-to-real transfer holds, and the model matches an independent dataset's own ceiling</a:t>
            </a:r>
          </a:p>
        </p:txBody>
      </p:sp>
      <p:pic>
        <p:nvPicPr>
          <p:cNvPr id="5" name="Picture 4" descr="fig15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16885"/>
            <a:ext cx="6446520" cy="3223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captures: </a:t>
            </a:r>
            <a:r>
              <a:rPr sz="1800">
                <a:solidFill>
                  <a:srgbClr val="262626"/>
                </a:solidFill>
                <a:latin typeface="Arial"/>
              </a:rPr>
              <a:t>AUROC 0.88-0.93 with nothing shared - not drives, routes, cells or scaler.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Out of domain: </a:t>
            </a:r>
            <a:r>
              <a:rPr sz="1800">
                <a:solidFill>
                  <a:srgbClr val="262626"/>
                </a:solidFill>
                <a:latin typeface="Arial"/>
              </a:rPr>
              <a:t>0.752 on a public dataset whose own in-domain ceiling is 0.745.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curated export fails at 0.38-0.62, </a:t>
            </a:r>
            <a:r>
              <a:rPr sz="1800">
                <a:solidFill>
                  <a:srgbClr val="262626"/>
                </a:solidFill>
                <a:latin typeface="Arial"/>
              </a:rPr>
              <a:t>which is how the synthetic-data audit was independently confirmed.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Across A3 regimes: </a:t>
            </a:r>
            <a:r>
              <a:rPr sz="1800">
                <a:solidFill>
                  <a:srgbClr val="262626"/>
                </a:solidFill>
                <a:latin typeface="Arial"/>
              </a:rPr>
              <a:t>a real cost of 0.088 AUROC that A3 features do not recover.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Public dataset: Shafi et al. (2025), Mendeley Data, DOI 10.17632/n2pvmtyn2j.1. Our parser agrees 310/310 with the vendor's event counter.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Both zero-cost domain adaptations make transfer worse, not better</a:t>
            </a:r>
          </a:p>
        </p:txBody>
      </p:sp>
      <p:pic>
        <p:nvPicPr>
          <p:cNvPr id="5" name="Picture 4" descr="m07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802" y="2212848"/>
            <a:ext cx="7362491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Tried in good faith: </a:t>
            </a:r>
            <a:r>
              <a:rPr sz="1600">
                <a:solidFill>
                  <a:srgbClr val="262626"/>
                </a:solidFill>
                <a:latin typeface="Arial"/>
              </a:rPr>
              <a:t>per-drive standardisation and CORAL - unsupervised, no target labels, free at deployment.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Both lose on both sides, </a:t>
            </a:r>
            <a:r>
              <a:rPr sz="1600">
                <a:solidFill>
                  <a:srgbClr val="262626"/>
                </a:solidFill>
                <a:latin typeface="Arial"/>
              </a:rPr>
              <a:t>including matched-domain accuracy, which rules out a robustness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Why: </a:t>
            </a:r>
            <a:r>
              <a:rPr sz="1600">
                <a:solidFill>
                  <a:srgbClr val="262626"/>
                </a:solidFill>
                <a:latin typeface="Arial"/>
              </a:rPr>
              <a:t>the absolute radio level carries the signal, and feature alignment is exactly what deletes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LightGBM, identical held-out drives on every arm. Figures comparable across adaptations within this experiment only.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quantity the deployed rule thresholds on is the weakest predictor available</a:t>
            </a:r>
          </a:p>
        </p:txBody>
      </p:sp>
      <p:pic>
        <p:nvPicPr>
          <p:cNvPr id="5" name="Picture 4" descr="fig17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64" y="2258568"/>
            <a:ext cx="6300886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Dwell time wins: </a:t>
            </a:r>
            <a:r>
              <a:rPr sz="1800">
                <a:solidFill>
                  <a:srgbClr val="262626"/>
                </a:solidFill>
                <a:latin typeface="Arial"/>
              </a:rPr>
              <a:t>how long the phone has already been on the cell, AUROC 0.874.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The A3 gap loses: </a:t>
            </a:r>
            <a:r>
              <a:rPr sz="1800">
                <a:solidFill>
                  <a:srgbClr val="262626"/>
                </a:solidFill>
                <a:latin typeface="Arial"/>
              </a:rPr>
              <a:t>0.566, barely above chance.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Why: </a:t>
            </a:r>
            <a:r>
              <a:rPr sz="1800">
                <a:solidFill>
                  <a:srgbClr val="262626"/>
                </a:solidFill>
                <a:latin typeface="Arial"/>
              </a:rPr>
              <a:t>the gap condition is necessary but not sufficient - it holds on 27% of samples, and three in five resulting reports are declined.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Signalling features are informative alone </a:t>
            </a:r>
            <a:r>
              <a:rPr sz="1800">
                <a:solidFill>
                  <a:srgbClr val="262626"/>
                </a:solidFill>
                <a:latin typeface="Arial"/>
              </a:rPr>
              <a:t>and redundant in combination.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Single-feature AUROC at the 1 s horizon, out-of-fold over 43 drives.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Handovers are strongly self-exciting: six in ten follow another handover</a:t>
            </a:r>
          </a:p>
        </p:txBody>
      </p:sp>
      <p:pic>
        <p:nvPicPr>
          <p:cNvPr id="5" name="Picture 4" descr="fig18_haw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Branching ratio 0.611 </a:t>
            </a:r>
            <a:r>
              <a:rPr sz="1800">
                <a:solidFill>
                  <a:srgbClr val="262626"/>
                </a:solidFill>
                <a:latin typeface="Arial"/>
              </a:rPr>
              <a:t>[0.506, 0.704], stable across three captures.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Decisively non-Poisson, </a:t>
            </a:r>
            <a:r>
              <a:rPr sz="1800">
                <a:solidFill>
                  <a:srgbClr val="262626"/>
                </a:solidFill>
                <a:latin typeface="Arial"/>
              </a:rPr>
              <a:t>and not a renewal process either.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Honest about fit: </a:t>
            </a:r>
            <a:r>
              <a:rPr sz="1800">
                <a:solidFill>
                  <a:srgbClr val="262626"/>
                </a:solidFill>
                <a:latin typeface="Arial"/>
              </a:rPr>
              <a:t>the exponential kernel is itself rejected by an Ogata residual test.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So 0.61 is </a:t>
            </a:r>
            <a:r>
              <a:rPr sz="1800">
                <a:solidFill>
                  <a:srgbClr val="262626"/>
                </a:solidFill>
                <a:latin typeface="Arial"/>
              </a:rPr>
              <a:t>a calibrated measure of clustering strength under a stated kernel, not a generative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Pooled over three captures; per-capture Ogata KS p = 0.030 / 0.052 / 0.068.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NEW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Three in five A3 reports are declined - and that decision is itself predictable</a:t>
            </a:r>
          </a:p>
        </p:txBody>
      </p:sp>
      <p:pic>
        <p:nvPicPr>
          <p:cNvPr id="5" name="Picture 4" descr="m0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993" y="2212848"/>
            <a:ext cx="7304108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61.3% non-conversion </a:t>
            </a:r>
            <a:r>
              <a:rPr sz="1600">
                <a:solidFill>
                  <a:srgbClr val="262626"/>
                </a:solidFill>
                <a:latin typeface="Arial"/>
              </a:rPr>
              <a:t>independently replicates a US-operator finding on a different operator and continent.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Nobody has modelled the network's side of it. </a:t>
            </a:r>
            <a:r>
              <a:rPr sz="1600">
                <a:solidFill>
                  <a:srgbClr val="262626"/>
                </a:solidFill>
                <a:latin typeface="Arial"/>
              </a:rPr>
              <a:t>Given a report has been sent, will the network act?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It falls straight out of the signalling parser, </a:t>
            </a:r>
            <a:r>
              <a:rPr sz="1600">
                <a:solidFill>
                  <a:srgbClr val="262626"/>
                </a:solidFill>
                <a:latin typeface="Arial"/>
              </a:rPr>
              <a:t>and it is a clean task a network operator could use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Comparison point: Ghoshal et al. (2025) report 69-87% non-conversion across three US operators.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A warning earns its alarm budget only up to about 20% of samples</a:t>
            </a:r>
          </a:p>
        </p:txBody>
      </p:sp>
      <p:pic>
        <p:nvPicPr>
          <p:cNvPr id="5" name="Picture 4" descr="fig20_bene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82" y="2258568"/>
            <a:ext cx="6165250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Coverage alone is not evidence. </a:t>
            </a:r>
            <a:r>
              <a:rPr sz="1800">
                <a:solidFill>
                  <a:srgbClr val="262626"/>
                </a:solidFill>
                <a:latin typeface="Arial"/>
              </a:rPr>
              <a:t>The reference is a same-rate random alarm.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Without that reference </a:t>
            </a:r>
            <a:r>
              <a:rPr sz="1800">
                <a:solidFill>
                  <a:srgbClr val="262626"/>
                </a:solidFill>
                <a:latin typeface="Arial"/>
              </a:rPr>
              <a:t>the benefit is overstated by two thirds at a 10% budget.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A prediction of mine was refuted: </a:t>
            </a:r>
            <a:r>
              <a:rPr sz="1800">
                <a:solidFill>
                  <a:srgbClr val="262626"/>
                </a:solidFill>
                <a:latin typeface="Arial"/>
              </a:rPr>
              <a:t>a dedicated ping-pong model is worse than ranking by handover imminence.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Because </a:t>
            </a:r>
            <a:r>
              <a:rPr sz="1800">
                <a:solidFill>
                  <a:srgbClr val="262626"/>
                </a:solidFill>
                <a:latin typeface="Arial"/>
              </a:rPr>
              <a:t>every ping-pong is a handover, and handovers are far more predictable.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Excess coverage over a same-rate random alarm, by alarm budget. Actuator efficacy is stated, not estimated.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The nearest published method on this network scores 0.505 where this work scores 0.921</a:t>
            </a:r>
          </a:p>
        </p:txBody>
      </p:sp>
      <p:pic>
        <p:nvPicPr>
          <p:cNvPr id="5" name="Picture 4" descr="m10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391" y="2212848"/>
            <a:ext cx="9371312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Reimplemented exactly, </a:t>
            </a:r>
            <a:r>
              <a:rPr sz="1600">
                <a:solidFill>
                  <a:srgbClr val="262626"/>
                </a:solidFill>
                <a:latin typeface="Arial"/>
              </a:rPr>
              <a:t>then scored generously - its full learned advantage, on the rows its own dataset always has.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five features are informative: </a:t>
            </a:r>
            <a:r>
              <a:rPr sz="1600">
                <a:solidFill>
                  <a:srgbClr val="262626"/>
                </a:solidFill>
                <a:latin typeface="Arial"/>
              </a:rPr>
              <a:t>our learner reaches 0.766 from them. The gap is the method, not the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654296"/>
            <a:ext cx="5074920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891313"/>
                </a:solidFill>
                <a:latin typeface="Arial"/>
              </a:rPr>
              <a:t>Their own reward beats their agent, </a:t>
            </a:r>
            <a:r>
              <a:rPr sz="1600">
                <a:solidFill>
                  <a:srgbClr val="262626"/>
                </a:solidFill>
                <a:latin typeface="Arial"/>
              </a:rPr>
              <a:t>so the reinforcement learning adds nothing the reward did not already contain.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Same operator, city and instrument. No publication record found; held as an unpublished manuscript.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More information and more machinery did not help; formulation and configuration did</a:t>
            </a:r>
          </a:p>
        </p:txBody>
      </p:sp>
      <p:pic>
        <p:nvPicPr>
          <p:cNvPr id="5" name="Picture 4" descr="fig22_neg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24619"/>
            <a:ext cx="6446520" cy="34077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Five channels added in good faith, </a:t>
            </a:r>
            <a:r>
              <a:rPr sz="1800">
                <a:solidFill>
                  <a:srgbClr val="262626"/>
                </a:solidFill>
                <a:latin typeface="Arial"/>
              </a:rPr>
              <a:t>each expected to help, each measured.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Every negative is measured, not assumed </a:t>
            </a:r>
            <a:r>
              <a:rPr sz="1800">
                <a:solidFill>
                  <a:srgbClr val="262626"/>
                </a:solidFill>
                <a:latin typeface="Arial"/>
              </a:rPr>
              <a:t>- which is what makes the pattern worth stating at all.</a:t>
            </a:r>
          </a:p>
          <a:p>
            <a:pPr>
              <a:spcAft>
                <a:spcPts val="1300"/>
              </a:spcAft>
            </a:pPr>
            <a:r>
              <a:rPr sz="1800" b="1">
                <a:solidFill>
                  <a:srgbClr val="891313"/>
                </a:solidFill>
                <a:latin typeface="Arial"/>
              </a:rPr>
              <a:t>Two things moved the result: </a:t>
            </a:r>
            <a:r>
              <a:rPr sz="1800">
                <a:solidFill>
                  <a:srgbClr val="262626"/>
                </a:solidFill>
                <a:latin typeface="Arial"/>
              </a:rPr>
              <a:t>reformulating the target, and the configuration regime.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row is a controlled comparison run under the same protocol.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What this work cannot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Scale.  </a:t>
            </a:r>
            <a:r>
              <a:rPr sz="1700">
                <a:solidFill>
                  <a:srgbClr val="262626"/>
                </a:solidFill>
                <a:latin typeface="Arial"/>
              </a:rPr>
              <a:t>43 drives, one corridor, one operator, three days. Enough for grouped cross-validation with 43 bootstrap groups; not enough to claim generality across cities.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Sampling rate.  </a:t>
            </a:r>
            <a:r>
              <a:rPr sz="1700">
                <a:solidFill>
                  <a:srgbClr val="262626"/>
                </a:solidFill>
                <a:latin typeface="Arial"/>
              </a:rPr>
              <a:t>1 Hz caps event detection at 90.5%. It does not cap horizon resolution - the event clock is finer than the sample clock.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Cross-regime transfer rests on one regime pair.  </a:t>
            </a:r>
            <a:r>
              <a:rPr sz="1700">
                <a:solidFill>
                  <a:srgbClr val="262626"/>
                </a:solidFill>
                <a:latin typeface="Arial"/>
              </a:rPr>
              <a:t>Only two A3 profiles clear the 60-handover bar on an identical test set.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 causal estimate of the actuator.  </a:t>
            </a:r>
            <a:r>
              <a:rPr sz="1700">
                <a:solidFill>
                  <a:srgbClr val="262626"/>
                </a:solidFill>
                <a:latin typeface="Arial"/>
              </a:rPr>
              <a:t>Off-policy evaluation is unidentified here because the logging policy is deterministic: A3 either fires or it does not.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Hawkes kernel is misspecified, </a:t>
            </a:r>
            <a:r>
              <a:rPr sz="1700">
                <a:solidFill>
                  <a:srgbClr val="262626"/>
                </a:solidFill>
                <a:latin typeface="Arial"/>
              </a:rPr>
              <a:t>and the thesis says so rather than leaving a reviewer to find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533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Each limitation is stated in the thesis alongside the measurement that bounds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Four directions, and one of them makes the causal question identifiable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04288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Fuzzy regression discontinuity at the A3 boundary.  </a:t>
            </a:r>
            <a:r>
              <a:rPr sz="1700">
                <a:solidFill>
                  <a:srgbClr val="262626"/>
                </a:solidFill>
                <a:latin typeface="Arial"/>
              </a:rPr>
              <a:t>The identifiable alternative to off-policy evaluation: compare drives just inside and just outside the firing condition.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 second corridor and a third A3 regime.  </a:t>
            </a:r>
            <a:r>
              <a:rPr sz="1700">
                <a:solidFill>
                  <a:srgbClr val="262626"/>
                </a:solidFill>
                <a:latin typeface="Arial"/>
              </a:rPr>
              <a:t>One more capture day on a new route turns one regime pair into a matrix.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Close the loop to an outcome.  </a:t>
            </a:r>
            <a:r>
              <a:rPr sz="1700">
                <a:solidFill>
                  <a:srgbClr val="262626"/>
                </a:solidFill>
                <a:latin typeface="Arial"/>
              </a:rPr>
              <a:t>Connect the two-second warning to a measured throughput or interruption effect, not a counting bound.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Release the code and the dataset.  </a:t>
            </a:r>
            <a:r>
              <a:rPr sz="1700">
                <a:solidFill>
                  <a:srgbClr val="262626"/>
                </a:solidFill>
                <a:latin typeface="Arial"/>
              </a:rPr>
              <a:t>Two of 22 audited papers release code and one releases data; a release is a citable output in its own right.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42416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1.  Handover is predictable well ahead of the rule that causes it.  </a:t>
            </a:r>
            <a:r>
              <a:rPr sz="1700">
                <a:solidFill>
                  <a:srgbClr val="262626"/>
                </a:solidFill>
                <a:latin typeface="Arial"/>
              </a:rPr>
              <a:t>AUROC 0.933 and AUPRC 0.797 at 1 s on signalling ground truth - eleven times the prevalence floor, with calibrated probabilities and a per-drive bound.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2.  Formulation beats information.  </a:t>
            </a:r>
            <a:r>
              <a:rPr sz="1700">
                <a:solidFill>
                  <a:srgbClr val="262626"/>
                </a:solidFill>
                <a:latin typeface="Arial"/>
              </a:rPr>
              <a:t>A discrete-time hazard delivers coherence, calibration and ranking from one fit; five separate information channels delivered nothing.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3.  The protocol is as much the contribution as the model.  </a:t>
            </a:r>
            <a:r>
              <a:rPr sz="1700">
                <a:solidFill>
                  <a:srgbClr val="262626"/>
                </a:solidFill>
                <a:latin typeface="Arial"/>
              </a:rPr>
              <a:t>Grouped splits, a prevalence floor, event-level costs and a distribution-free bound - none of which the comparable literature reports.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4.  Negative results were measured and published, not discarded.  </a:t>
            </a:r>
            <a:r>
              <a:rPr sz="1700">
                <a:solidFill>
                  <a:srgbClr val="262626"/>
                </a:solidFill>
                <a:latin typeface="Arial"/>
              </a:rPr>
              <a:t>Including one prediction of my own that was refuted.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943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91313"/>
                </a:solidFill>
                <a:latin typeface="Arial"/>
              </a:rPr>
              <a:t>Abeer Saadman  |  Department of EEE, Islamic University of Technology  |  [email]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91313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3GPP TS 36.331. Evolved Universal Terrestrial Radio Access (E-UTRA); Radio Resource Control (RRC); Protocol specification.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Angelopoulos, A.N., Bates, S., Candes, E.J., Jordan, M.I. &amp; Lei, L. (2022). Conformal Risk Control. arXiv:2208.02814.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Ankome, T. &amp; Hanada, E. (2026). Reactive to Predictive Mobility Management: A Systematic Review of ML-Driven Handover Optimization in 5G and Beyond. Machine Learning and Knowledge Extraction, 8(5), 133.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Cohen, K.M., Park, S., Simeone, O. &amp; Shamai Shitz, S. (2022). Calibrating AI Models for Wireless Communications via Conformal Prediction. arXiv:2212.07775.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Deng, Y., Peng, C., Fida, M.-R., Meng, J. &amp; Hu, Y.C. (2018). Mobility Support in Cellular Networks: A Measurement Study on Its Configurations and Implications. ACM IMC, 147-160.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Ghoshal, M., Khan, I., Dinh, T., Kong, Z., Basit, A., Wang, W., Feng, Y., Hu, Y.C. &amp; Koutsonikolas, D. (2025). Handover Configurations in Operational 5G Networks. arXiv:2511.03116.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Hasan, K., Trappenberg, T. &amp; Haque, I. (2024). A Generalized Transformer-based Radio Link Failure Prediction Framework in 5G RANs. arXiv:2407.05197.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Hawkes, A.G. (1971). Spectra of some self-exciting and mutually exciting point processes. Biometrika, 58(1), 83-90.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768" y="2240280"/>
            <a:ext cx="50749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Ke, G., Meng, Q., Finley, T., Wang, T., Chen, W., Ma, W., Ye, Q. &amp; Liu, T.-Y. (2017). LightGBM: A Highly Efficient Gradient Boosting Decision Tree. NeurIPS.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Laub, P.J., Lee, Y., Pollett, P.K. &amp; Taimre, T. (2025). Hawkes Models and Their Applications. Annual Review of Statistics and Its Application, 12, 233-258.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Ogata, Y. (1988). Statistical models for earthquake occurrences and residual analysis for point processes. JASA, 83(401), 9-27.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Price-Williams, M. &amp; Heard, N.A. (2020). Nonparametric self-exciting models for computer network traffic. Statistics and Computing, 30(2), 209-220.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Shafi, M.M.S., Istiaque, K.M., Sowad, S.S. &amp; Kawser, M.T. (2025). Drive-Test-Based LTE Handover Dataset for Cellular Mobility Studies in Urban Bangladesh. Mendeley Data, V1. DOI 10.17632/n2pvmtyn2j.1.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Sun, B. &amp; Saenko, K. (2016). Deep CORAL: Correlation Alignment for Deep Domain Adaptation. ECCV 2016 Workshops, LNCS 9915, 443-450.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Wiegrebe, S., Kopper, P., Sonabend, R., Bischl, B. &amp; Bender, A. (2024). Deep learning for survival analysis: a review. Artificial Intelligence Review, 57(3), 65.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262626"/>
                </a:solidFill>
                <a:latin typeface="Arial"/>
              </a:rPr>
              <a:t>Zidic, A., Mastelic, T., Nizetic Kosovic, I., Cagalj, M. &amp; Lorincz, J. (2023). Analyses of ping-pong handovers in real 4G telecommunication networks. Computer Networks, 227, 109699.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9904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77"/>
                </a:solidFill>
                <a:latin typeface="Arial"/>
              </a:rPr>
              <a:t>Full bibliography: 108 screened references, 93 verified against the publisher or author record; 22-paper protocol audit.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173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891313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Questions and feedback welcome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777777"/>
                </a:solidFill>
                <a:latin typeface="Arial"/>
              </a:rPr>
              <a:t>Abeer Saadman  |  Department of EEE, Islamic University of Technology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A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configuration-timeline defect, measured</a:t>
            </a:r>
          </a:p>
        </p:txBody>
      </p:sp>
      <p:pic>
        <p:nvPicPr>
          <p:cNvPr id="5" name="Picture 4" descr="fig07_con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2011"/>
            <a:ext cx="6446520" cy="3133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how do you know the flat parse was wrong?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43% of reports carry no neighbour, </a:t>
            </a:r>
            <a:r>
              <a:rPr sz="1700">
                <a:solidFill>
                  <a:srgbClr val="262626"/>
                </a:solidFill>
                <a:latin typeface="Arial"/>
              </a:rPr>
              <a:t>so 99.4% A3 attribution is arithmetically impossible.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log itself shows </a:t>
            </a:r>
            <a:r>
              <a:rPr sz="1700">
                <a:solidFill>
                  <a:srgbClr val="262626"/>
                </a:solidFill>
                <a:latin typeface="Arial"/>
              </a:rPr>
              <a:t>1,424 A1, 1,401 A2 and 1,309 A3 configurations in one capture.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B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hazard identity, panel by panel</a:t>
            </a:r>
          </a:p>
        </p:txBody>
      </p:sp>
      <p:pic>
        <p:nvPicPr>
          <p:cNvPr id="5" name="Picture 4" descr="fig08_hazard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39769"/>
            <a:ext cx="6446520" cy="3177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why not just calibrate five heads?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Because calibration is per horizon </a:t>
            </a:r>
            <a:r>
              <a:rPr sz="1700">
                <a:solidFill>
                  <a:srgbClr val="262626"/>
                </a:solidFill>
                <a:latin typeface="Arial"/>
              </a:rPr>
              <a:t>and nothing couples the horizons to each other.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 product-limit identity couples them </a:t>
            </a:r>
            <a:r>
              <a:rPr sz="1700">
                <a:solidFill>
                  <a:srgbClr val="262626"/>
                </a:solidFill>
                <a:latin typeface="Arial"/>
              </a:rPr>
              <a:t>before any calibration is applied.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C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Domain adaptation, arm by arm</a:t>
            </a:r>
          </a:p>
        </p:txBody>
      </p:sp>
      <p:pic>
        <p:nvPicPr>
          <p:cNvPr id="5" name="Picture 4" descr="fig16_adap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2258568"/>
            <a:ext cx="6063385" cy="3739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did you try domain adaptation?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Yes, two standard unsupervised methods, </a:t>
            </a:r>
            <a:r>
              <a:rPr sz="1700">
                <a:solidFill>
                  <a:srgbClr val="262626"/>
                </a:solidFill>
                <a:latin typeface="Arial"/>
              </a:rPr>
              <a:t>and both lose on both sides of the transfer.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Matched-domain AUROC also falls </a:t>
            </a:r>
            <a:r>
              <a:rPr sz="1700">
                <a:solidFill>
                  <a:srgbClr val="262626"/>
                </a:solidFill>
                <a:latin typeface="Arial"/>
              </a:rPr>
              <a:t>(0.819 to 0.796 / 0.800), which rules out a robustness trade.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D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Report conversion, in numbers</a:t>
            </a:r>
          </a:p>
        </p:txBody>
      </p:sp>
      <p:pic>
        <p:nvPicPr>
          <p:cNvPr id="5" name="Picture 4" descr="fig19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71028"/>
            <a:ext cx="6446520" cy="3314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report conversion just the A3 rule restated?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No: </a:t>
            </a:r>
            <a:r>
              <a:rPr sz="1700">
                <a:solidFill>
                  <a:srgbClr val="262626"/>
                </a:solidFill>
                <a:latin typeface="Arial"/>
              </a:rPr>
              <a:t>the gate is satisfied for every one of these reports, yet three in five are declined.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AUPRC 0.731 against a 0.391 floor </a:t>
            </a:r>
            <a:r>
              <a:rPr sz="1700">
                <a:solidFill>
                  <a:srgbClr val="262626"/>
                </a:solidFill>
                <a:latin typeface="Arial"/>
              </a:rPr>
              <a:t>over 6,354 reports.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86868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77777"/>
                </a:solidFill>
                <a:latin typeface="Arial"/>
              </a:rPr>
              <a:t>APPENDIX E -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91313"/>
                </a:solidFill>
                <a:latin typeface="Arial"/>
              </a:rPr>
              <a:t>The departmental comparison, arm by arm</a:t>
            </a:r>
          </a:p>
        </p:txBody>
      </p:sp>
      <p:pic>
        <p:nvPicPr>
          <p:cNvPr id="5" name="Picture 4" descr="fig21_depart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93114"/>
            <a:ext cx="6446520" cy="3670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2350008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Likely question: </a:t>
            </a:r>
            <a:r>
              <a:rPr sz="1700">
                <a:solidFill>
                  <a:srgbClr val="262626"/>
                </a:solidFill>
                <a:latin typeface="Arial"/>
              </a:rPr>
              <a:t>is this a fair comparison?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Every choice was made in their favour: </a:t>
            </a:r>
            <a:r>
              <a:rPr sz="1700">
                <a:solidFill>
                  <a:srgbClr val="262626"/>
                </a:solidFill>
                <a:latin typeface="Arial"/>
              </a:rPr>
              <a:t>full learned advantage, their own row population, their more favourable gate reading.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891313"/>
                </a:solidFill>
                <a:latin typeface="Arial"/>
              </a:rPr>
              <a:t>Their published TTT filter </a:t>
            </a:r>
            <a:r>
              <a:rPr sz="1700">
                <a:solidFill>
                  <a:srgbClr val="262626"/>
                </a:solidFill>
                <a:latin typeface="Arial"/>
              </a:rPr>
              <a:t>consumes TTT seconds of the future, so it is inadmissible as evidence of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2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Mostofa Rafid Chowdhury</dc:creator>
  <cp:lastModifiedBy>Dr. Mohammad Rakibul Islam, Professor,EEE</cp:lastModifiedBy>
  <cp:revision>69</cp:revision>
  <dcterms:created xsi:type="dcterms:W3CDTF">2020-11-20T22:35:19Z</dcterms:created>
  <dcterms:modified xsi:type="dcterms:W3CDTF">2025-05-06T05:57:29Z</dcterms:modified>
</cp:coreProperties>
</file>