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8912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SbvAILlBudp2UwHlcrEGTvjP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A2281A-F786-48D3-89DA-C1219ABF7AA9}">
  <a:tblStyle styleId="{0FA2281A-F786-48D3-89DA-C1219ABF7AA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 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11" name="Google Shape;11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ter">
  <p:cSld name="Po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800600" y="1320800"/>
            <a:ext cx="23317200" cy="335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800600" y="4784806"/>
            <a:ext cx="233172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"/>
          <p:cNvSpPr/>
          <p:nvPr>
            <p:ph idx="2" type="body"/>
          </p:nvPr>
        </p:nvSpPr>
        <p:spPr>
          <a:xfrm>
            <a:off x="85725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857250" y="9428480"/>
            <a:ext cx="9601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4" name="Google Shape;24;p3"/>
          <p:cNvSpPr/>
          <p:nvPr>
            <p:ph idx="4" type="body"/>
          </p:nvPr>
        </p:nvSpPr>
        <p:spPr>
          <a:xfrm>
            <a:off x="857250" y="20043648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5" type="body"/>
          </p:nvPr>
        </p:nvSpPr>
        <p:spPr>
          <a:xfrm>
            <a:off x="857250" y="21669250"/>
            <a:ext cx="9601200" cy="1211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6" type="body"/>
          </p:nvPr>
        </p:nvSpPr>
        <p:spPr>
          <a:xfrm>
            <a:off x="85725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7" type="body"/>
          </p:nvPr>
        </p:nvSpPr>
        <p:spPr>
          <a:xfrm>
            <a:off x="85725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8" name="Google Shape;28;p3"/>
          <p:cNvSpPr/>
          <p:nvPr>
            <p:ph idx="8" type="body"/>
          </p:nvPr>
        </p:nvSpPr>
        <p:spPr>
          <a:xfrm>
            <a:off x="1165860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9" type="body"/>
          </p:nvPr>
        </p:nvSpPr>
        <p:spPr>
          <a:xfrm>
            <a:off x="11658600" y="9428480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3" type="body"/>
          </p:nvPr>
        </p:nvSpPr>
        <p:spPr>
          <a:xfrm>
            <a:off x="11658600" y="15930880"/>
            <a:ext cx="9601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4" type="body"/>
          </p:nvPr>
        </p:nvSpPr>
        <p:spPr>
          <a:xfrm>
            <a:off x="11658600" y="31292800"/>
            <a:ext cx="960120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2" name="Google Shape;32;p3"/>
          <p:cNvSpPr/>
          <p:nvPr>
            <p:ph idx="15" type="body"/>
          </p:nvPr>
        </p:nvSpPr>
        <p:spPr>
          <a:xfrm>
            <a:off x="1165860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6" type="body"/>
          </p:nvPr>
        </p:nvSpPr>
        <p:spPr>
          <a:xfrm>
            <a:off x="1165860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4" name="Google Shape;34;p3"/>
          <p:cNvSpPr/>
          <p:nvPr>
            <p:ph idx="17" type="body"/>
          </p:nvPr>
        </p:nvSpPr>
        <p:spPr>
          <a:xfrm>
            <a:off x="2242566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8" type="body"/>
          </p:nvPr>
        </p:nvSpPr>
        <p:spPr>
          <a:xfrm>
            <a:off x="22425660" y="9428480"/>
            <a:ext cx="96012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9" type="body"/>
          </p:nvPr>
        </p:nvSpPr>
        <p:spPr>
          <a:xfrm>
            <a:off x="22425660" y="21116544"/>
            <a:ext cx="96012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7" name="Google Shape;37;p3"/>
          <p:cNvSpPr/>
          <p:nvPr>
            <p:ph idx="20" type="body"/>
          </p:nvPr>
        </p:nvSpPr>
        <p:spPr>
          <a:xfrm>
            <a:off x="2242566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21" type="body"/>
          </p:nvPr>
        </p:nvSpPr>
        <p:spPr>
          <a:xfrm>
            <a:off x="2242566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ctrTitle"/>
          </p:nvPr>
        </p:nvSpPr>
        <p:spPr>
          <a:xfrm>
            <a:off x="2468880" y="7183123"/>
            <a:ext cx="27980640" cy="1528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subTitle"/>
          </p:nvPr>
        </p:nvSpPr>
        <p:spPr>
          <a:xfrm>
            <a:off x="4114800" y="23053043"/>
            <a:ext cx="24688800" cy="10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sz="648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6pPr>
            <a:lvl7pPr lvl="6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7pPr>
            <a:lvl8pPr lvl="7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8pPr>
            <a:lvl9pPr lvl="8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9pPr>
          </a:lstStyle>
          <a:p/>
        </p:txBody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2245997" y="10942333"/>
            <a:ext cx="28392120" cy="182575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2245997" y="29372573"/>
            <a:ext cx="28392120" cy="9601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6480"/>
              <a:buNone/>
              <a:defRPr sz="648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22631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166649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2267428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2267431" y="10759443"/>
            <a:ext cx="13926024" cy="52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b="1" sz="648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9pPr>
          </a:lstStyle>
          <a:p/>
        </p:txBody>
      </p:sp>
      <p:sp>
        <p:nvSpPr>
          <p:cNvPr id="67" name="Google Shape;67;p8"/>
          <p:cNvSpPr txBox="1"/>
          <p:nvPr>
            <p:ph idx="2" type="body"/>
          </p:nvPr>
        </p:nvSpPr>
        <p:spPr>
          <a:xfrm>
            <a:off x="2267431" y="16032480"/>
            <a:ext cx="13926024" cy="2358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3" type="body"/>
          </p:nvPr>
        </p:nvSpPr>
        <p:spPr>
          <a:xfrm>
            <a:off x="16664942" y="10759443"/>
            <a:ext cx="13994608" cy="52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b="1" sz="648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9pPr>
          </a:lstStyle>
          <a:p/>
        </p:txBody>
      </p:sp>
      <p:sp>
        <p:nvSpPr>
          <p:cNvPr id="69" name="Google Shape;69;p8"/>
          <p:cNvSpPr txBox="1"/>
          <p:nvPr>
            <p:ph idx="4" type="body"/>
          </p:nvPr>
        </p:nvSpPr>
        <p:spPr>
          <a:xfrm>
            <a:off x="16664942" y="16032480"/>
            <a:ext cx="13994608" cy="2358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6012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1pPr>
            <a:lvl2pPr indent="-86868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2pPr>
            <a:lvl3pPr indent="-7772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Char char="•"/>
              <a:defRPr sz="8640"/>
            </a:lvl3pPr>
            <a:lvl4pPr indent="-6858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4pPr>
            <a:lvl5pPr indent="-6858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5pPr>
            <a:lvl6pPr indent="-6858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6pPr>
            <a:lvl7pPr indent="-6858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7pPr>
            <a:lvl8pPr indent="-6858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8pPr>
            <a:lvl9pPr indent="-6858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/>
          <p:nvPr>
            <p:ph idx="2" type="pic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 rot="5400000">
            <a:off x="2534919" y="11412222"/>
            <a:ext cx="27848563" cy="283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 rot="5400000">
            <a:off x="8508365" y="17385667"/>
            <a:ext cx="37195763" cy="7098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 rot="5400000">
            <a:off x="-5893434" y="10493377"/>
            <a:ext cx="37195763" cy="20882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40"/>
              <a:buFont typeface="Calibri"/>
              <a:buNone/>
              <a:defRPr b="0" i="0" sz="158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68680" lvl="0" marL="457200" marR="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b="0" i="0" sz="10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7240" lvl="1" marL="914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85800" lvl="2" marL="1371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40080" lvl="3" marL="1828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40080" lvl="4" marL="22860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40080" lvl="5" marL="2743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40080" lvl="6" marL="3200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40080" lvl="7" marL="3657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40080" lvl="8" marL="4114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0"/>
            <a:ext cx="32918400" cy="670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45"/>
              <a:buFont typeface="Arial"/>
              <a:buNone/>
            </a:pPr>
            <a:r>
              <a:t/>
            </a:r>
            <a:endParaRPr b="0" i="0" sz="544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type="title"/>
          </p:nvPr>
        </p:nvSpPr>
        <p:spPr>
          <a:xfrm>
            <a:off x="3474720" y="365760"/>
            <a:ext cx="2596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spcFirstLastPara="1" wrap="square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sz="5000" b="1">
                <a:solidFill>
                  <a:srgbClr val="002060"/>
                </a:solidFill>
                <a:latin typeface="Times New Roman"/>
              </a:rPr>
              <a:t>CONFORMALIZED DISCRETE-TIME HAZARD MODELING FOR MULTI-HORIZON HANDOVER FORECASTING IN CELLULAR NETWORKS</a:t>
            </a:r>
            <a:endParaRPr/>
          </a:p>
        </p:txBody>
      </p:sp>
      <p:sp>
        <p:nvSpPr>
          <p:cNvPr id="114" name="Google Shape;114;p1"/>
          <p:cNvSpPr/>
          <p:nvPr>
            <p:ph idx="2" type="body"/>
          </p:nvPr>
        </p:nvSpPr>
        <p:spPr>
          <a:xfrm>
            <a:off x="914400" y="667512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r>
              <a:rPr sz="3600" b="1">
                <a:solidFill>
                  <a:srgbClr val="002060"/>
                </a:solidFill>
                <a:latin typeface="Calibri"/>
              </a:rPr>
              <a:t>  ABSTRACT</a:t>
            </a:r>
            <a:endParaRPr/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66" y="1823476"/>
            <a:ext cx="2420403" cy="407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47301" y="2208863"/>
            <a:ext cx="2893307" cy="29127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914400" y="1060704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sz="3600" b="1">
                <a:solidFill>
                  <a:srgbClr val="002060"/>
                </a:solidFill>
                <a:latin typeface="Calibri"/>
              </a:rPr>
              <a:t>  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914400" y="1362456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sz="3600" b="1">
                <a:solidFill>
                  <a:srgbClr val="002060"/>
                </a:solidFill>
                <a:latin typeface="Calibri"/>
              </a:rPr>
              <a:t> 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914400" y="2253996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sz="3600" b="1">
                <a:solidFill>
                  <a:srgbClr val="002060"/>
                </a:solidFill>
                <a:latin typeface="Calibri"/>
              </a:rPr>
              <a:t>  EXPERIMENTAL DESIGN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17922240" y="667512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  KEY OUTCOMES/RESULTS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17922240" y="2391156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  COMMERCIAL VIABILITY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922240" y="2697480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  OBE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922240" y="1993392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  NOVELTY/SIGNIFICANT CONTRIBUTIONS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922240" y="3392424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 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3474720" y="2148840"/>
            <a:ext cx="2596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Times New Roman"/>
              <a:buNone/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Students: Saadman Sakib (210021110)   |   Adhnan Kalim (210021308)   |   Evan Ashfaque (210021335)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Supervisor: Dr. Mohmmad Tawhid Kawser, Professor</a:t>
            </a:r>
          </a:p>
          <a:p>
            <a:pPr algn="ctr"/>
            <a:r>
              <a:rPr sz="3400" b="1">
                <a:solidFill>
                  <a:srgbClr val="002060"/>
                </a:solidFill>
                <a:latin typeface="Times New Roman"/>
              </a:rPr>
              <a:t>Department of Electrical and Electronic Engineering, Islamic University of Technology (IUT)</a:t>
            </a:r>
          </a:p>
        </p:txBody>
      </p:sp>
      <p:sp>
        <p:nvSpPr>
          <p:cNvPr id="137" name="Google Shape;137;p1"/>
          <p:cNvSpPr/>
          <p:nvPr/>
        </p:nvSpPr>
        <p:spPr>
          <a:xfrm>
            <a:off x="914400" y="17693640"/>
            <a:ext cx="14081760" cy="59436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4864" lIns="182880" spcFirstLastPara="1" wrap="none" tIns="54864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sz="3600" b="1">
                <a:solidFill>
                  <a:srgbClr val="002060"/>
                </a:solidFill>
                <a:latin typeface="Calibri"/>
              </a:rPr>
              <a:t>  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1"/>
          <p:cNvGraphicFramePr/>
          <p:nvPr/>
        </p:nvGraphicFramePr>
        <p:xfrm>
          <a:off x="17922240" y="27660600"/>
          <a:ext cx="6272784" cy="6071616"/>
        </p:xfrm>
        <a:graphic>
          <a:graphicData uri="http://schemas.openxmlformats.org/drawingml/2006/table">
            <a:tbl>
              <a:tblPr>
                <a:noFill/>
                <a:tableStyleId>{0FA2281A-F786-48D3-89DA-C1219ABF7AA9}</a:tableStyleId>
              </a:tblPr>
              <a:tblGrid>
                <a:gridCol w="1097280"/>
                <a:gridCol w="621792"/>
                <a:gridCol w="896112"/>
                <a:gridCol w="621792"/>
                <a:gridCol w="896112"/>
                <a:gridCol w="621792"/>
                <a:gridCol w="896112"/>
                <a:gridCol w="621792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Tick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Tick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Ps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Tick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As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Calibri"/>
                        </a:rPr>
                        <a:t>Tick</a:t>
                      </a:r>
                    </a:p>
                  </a:txBody>
                  <a:tcPr marT="9144" marB="9144" marR="18288" marL="18288" anchor="ctr">
                    <a:solidFill>
                      <a:srgbClr val="006600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PO1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K3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PO2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K4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PO3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K5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PO4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K6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A4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PO5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K7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P5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A5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PO6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K8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PO7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P7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PO8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PO9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PO10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PO11</a:t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0066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9144" marB="9144" marR="18288" marL="18288" anchor="ctr">
                    <a:solidFill>
                      <a:srgbClr val="E8F5E9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FFFFF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>PO12</a:t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9144" marB="9144" marR="18288" marL="18288" anchor="ctr">
                    <a:solidFill>
                      <a:srgbClr val="FAFAFA"/>
                    </a:solidFill>
                    <a:lnL w="12700" cmpd="s">
                      <a:solidFill>
                        <a:srgbClr val="CBD5E1"/>
                      </a:solidFill>
                    </a:lnL>
                    <a:lnR w="12700" cmpd="s">
                      <a:solidFill>
                        <a:srgbClr val="CBD5E1"/>
                      </a:solidFill>
                    </a:lnR>
                    <a:lnT w="12700" cmpd="s">
                      <a:solidFill>
                        <a:srgbClr val="CBD5E1"/>
                      </a:solidFill>
                    </a:lnT>
                    <a:lnB w="12700" cmpd="s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914400" y="7315200"/>
            <a:ext cx="14081760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Problem: </a:t>
            </a:r>
            <a:r>
              <a:rPr sz="1800" b="0">
                <a:solidFill>
                  <a:srgbClr val="222222"/>
                </a:solidFill>
                <a:latin typeface="Calibri"/>
              </a:rPr>
              <a:t>LTE handovers operate reactively via Event A3, initiating target cell preparation only after link degradation has already occurred. This causes radio-link failure (RLF) during rapid channel drops and induces high ping-pong rates.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Logging Artifact Discovery: </a:t>
            </a:r>
            <a:r>
              <a:rPr sz="1800" b="0">
                <a:solidFill>
                  <a:srgbClr val="222222"/>
                </a:solidFill>
                <a:latin typeface="Calibri"/>
              </a:rPr>
              <a:t>Physical alignment audit reveals that standard 1 Hz diagnostic logs write post-handover cell state before the RRC command in 76% of events. Failing to lag features produces a spurious +235% AUPRC inflation (0.179 -&gt; 0.600) prevalent in un-audited literature.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Hazard Formulation: </a:t>
            </a:r>
            <a:r>
              <a:rPr sz="1800" b="0">
                <a:solidFill>
                  <a:srgbClr val="222222"/>
                </a:solidFill>
                <a:latin typeface="Calibri"/>
              </a:rPr>
              <a:t>Framing handover forecasting as discrete-time survival analysis with a single gradient-boosted tree model guarantees coherent multi-horizon ordering without post-hoc heuristics, reaching AUPRC 0.179 at 1 s (2.6x over baseline) and 0.475 at 5 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Risk Guarantees: </a:t>
            </a:r>
            <a:r>
              <a:rPr sz="1800" b="0">
                <a:solidFill>
                  <a:srgbClr val="222222"/>
                </a:solidFill>
                <a:latin typeface="Calibri"/>
              </a:rPr>
              <a:t>Conformal Risk Control certifies an early-warning alarm threshold that strictly bounds per-drive miss rate &lt;= 0.20 (realised 0.168 at 47% alarm rate). Over handovers, 36.4% of events are fundamentally bounded by the 2 s post-handover blanking policy limit.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14400" y="11247120"/>
            <a:ext cx="140817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3GPP LTE Mobility Mechanism: </a:t>
            </a:r>
            <a:r>
              <a:rPr sz="1800" b="0">
                <a:solidFill>
                  <a:srgbClr val="222222"/>
                </a:solidFill>
                <a:latin typeface="Calibri"/>
              </a:rPr>
              <a:t>Handover decisions are governed by RRC MeasurementReport messages. Event A3 fires when neighbor RSRP exceeds serving by an offset (Mn - Ofn &gt; Ms + Ofs + Off) for a continuous Time-To-Trigger (TTT), creating an unavoidable delay.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Signalling Inefficiencies: </a:t>
            </a:r>
            <a:r>
              <a:rPr sz="1800" b="0">
                <a:solidFill>
                  <a:srgbClr val="222222"/>
                </a:solidFill>
                <a:latin typeface="Calibri"/>
              </a:rPr>
              <a:t>In dense urban topologies, 26.3% to 43.8% of handovers return to the source cell within 15 seconds, expending unnecessary signaling load, radio resource control overhead, and UE battery consumption.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Literature Evaluation Pitfalls: </a:t>
            </a:r>
            <a:r>
              <a:rPr sz="1800" b="0">
                <a:solidFill>
                  <a:srgbClr val="222222"/>
                </a:solidFill>
                <a:latin typeface="Calibri"/>
              </a:rPr>
              <a:t>Audit of 22 published models indicates widespread data leakage: random row-level splitting across continuous drive tests inflates AUPRC by up to 48% and misranks models relative to cluster-safe cross-campaign splits.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4400" y="14264640"/>
            <a:ext cx="1408176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O1 - Alignment Audit: </a:t>
            </a:r>
            <a:r>
              <a:rPr sz="1800" b="0">
                <a:solidFill>
                  <a:srgbClr val="222222"/>
                </a:solidFill>
                <a:latin typeface="Calibri"/>
              </a:rPr>
              <a:t>Identify and correct physical logging/export latency between handset traces and decoded RRC event clock.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O2 - Leakage-Free Benchmarking: </a:t>
            </a:r>
            <a:r>
              <a:rPr sz="1800" b="0">
                <a:solidFill>
                  <a:srgbClr val="222222"/>
                </a:solidFill>
                <a:latin typeface="Calibri"/>
              </a:rPr>
              <a:t>Establish a rigorous Leave-One-Campaign-Out (LOCO) protocol that prevents temporal and spatial information leakage.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O3 - Monotone Multi-Horizon Forecasting: </a:t>
            </a:r>
            <a:r>
              <a:rPr sz="1800" b="0">
                <a:solidFill>
                  <a:srgbClr val="222222"/>
                </a:solidFill>
                <a:latin typeface="Calibri"/>
              </a:rPr>
              <a:t>Develop a discrete-time survival/hazard framework guaranteeing mathematically ordered cumulative incidence (0.5 s to 5 s).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O4 - Distribution-Free Risk Control: </a:t>
            </a:r>
            <a:r>
              <a:rPr sz="1800" b="0">
                <a:solidFill>
                  <a:srgbClr val="222222"/>
                </a:solidFill>
                <a:latin typeface="Calibri"/>
              </a:rPr>
              <a:t>Formulate Conformal Risk Control (CRC) on clustered drive units to certify operational alarm thresholds with statistical bounds.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O5 - Operational Characterization: </a:t>
            </a:r>
            <a:r>
              <a:rPr sz="1800" b="0">
                <a:solidFill>
                  <a:srgbClr val="222222"/>
                </a:solidFill>
                <a:latin typeface="Calibri"/>
              </a:rPr>
              <a:t>Decode live RRC signaling timelines to quantify Event A3 conversion efficiency and ping-pong sensitivity under live deployments.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4400" y="18333720"/>
            <a:ext cx="14081760" cy="2331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Signalling Decoding: </a:t>
            </a:r>
            <a:r>
              <a:rPr sz="1800" b="0">
                <a:solidFill>
                  <a:srgbClr val="222222"/>
                </a:solidFill>
                <a:latin typeface="Calibri"/>
              </a:rPr>
              <a:t>Replay RRC connection reconfiguration timelines under TS 36.331; ground truth extracted from mobilityControlInfo with 100% confirmed completion.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Causal Feature Engineering: </a:t>
            </a:r>
            <a:r>
              <a:rPr sz="1800" b="0">
                <a:solidFill>
                  <a:srgbClr val="222222"/>
                </a:solidFill>
                <a:latin typeface="Calibri"/>
              </a:rPr>
              <a:t>112 strictly causal features: 89 Radio (serving RF + projected neighbor RSRP via zero-order hold), 17 Mobility (GPS speed, acceleration, bearing), 6 History (dwell time, recent handover count). All export features lagged 1 row.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Hazard Formulation: </a:t>
            </a:r>
            <a:r>
              <a:rPr sz="1800" b="0">
                <a:solidFill>
                  <a:srgbClr val="222222"/>
                </a:solidFill>
                <a:latin typeface="Calibri"/>
              </a:rPr>
              <a:t>Single LightGBM model estimates interval hazard lambda_k(x_t). Cumulative incidence derived via product-limit identity F_k(x_t) = 1 - prod_{j=1}^k (1 - lambda_j(x_t)), guaranteeing monotonic ordering without heuristics.</a:t>
            </a:r>
          </a:p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Conformal Risk Control: </a:t>
            </a:r>
            <a:r>
              <a:rPr sz="1800" b="0">
                <a:solidFill>
                  <a:srgbClr val="222222"/>
                </a:solidFill>
                <a:latin typeface="Calibri"/>
              </a:rPr>
              <a:t>Certify threshold lambda* on calibration sessions such that expected per-unit loss satisfies E[L] &lt;= alpha with distribution-free validity.</a:t>
            </a:r>
          </a:p>
        </p:txBody>
      </p:sp>
      <p:pic>
        <p:nvPicPr>
          <p:cNvPr id="146" name="Picture 145" descr="m14_frame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0802600"/>
            <a:ext cx="14081760" cy="1545336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4400" y="23180040"/>
            <a:ext cx="140817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Measurement Testbed: </a:t>
            </a:r>
            <a:r>
              <a:rPr sz="1800" b="0">
                <a:solidFill>
                  <a:srgbClr val="222222"/>
                </a:solidFill>
                <a:latin typeface="Calibri"/>
              </a:rPr>
              <a:t>Commercial live LTE network across Dhaka and Gazipur, Bangladesh, captured using an instrumented vehicle with XCAL diagnostic drive-test hardware.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Four Continuous Campaigns: </a:t>
            </a:r>
            <a:r>
              <a:rPr sz="1800" b="0">
                <a:solidFill>
                  <a:srgbClr val="222222"/>
                </a:solidFill>
                <a:latin typeface="Calibri"/>
              </a:rPr>
              <a:t>Campaign 1 (Urban Arterial, 45 min, 39.1 km/h), Campaign 2 (Urban Loop, 24 min, 25.0 km/h), Campaign 3 (Dense Urban, 60 min, 21.4 km/h), Campaign 4 (Highway, 42 min, 50.9 km/h).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002060"/>
                </a:solidFill>
                <a:latin typeface="Calibri"/>
              </a:rPr>
              <a:t>• Corpus Scale: </a:t>
            </a:r>
            <a:r>
              <a:rPr sz="1800" b="0">
                <a:solidFill>
                  <a:srgbClr val="222222"/>
                </a:solidFill>
                <a:latin typeface="Calibri"/>
              </a:rPr>
              <a:t>96 km total distance, 10,260 1-Hz measurement rows (8,586 usable modelling rows after 2-second blanking &amp; quality control), 957 confirmed handover commands, and 341 RRC re-establishments.</a:t>
            </a:r>
          </a:p>
        </p:txBody>
      </p:sp>
      <p:pic>
        <p:nvPicPr>
          <p:cNvPr id="148" name="Picture 147" descr="fig03_map_rou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5511760"/>
            <a:ext cx="13350240" cy="1678838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7922240" y="7315200"/>
            <a:ext cx="140817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50" b="1">
                <a:solidFill>
                  <a:srgbClr val="002060"/>
                </a:solidFill>
                <a:latin typeface="Calibri"/>
              </a:rPr>
              <a:t>• Predictive Superiority: </a:t>
            </a:r>
            <a:r>
              <a:rPr sz="1750" b="0">
                <a:solidFill>
                  <a:srgbClr val="222222"/>
                </a:solidFill>
                <a:latin typeface="Calibri"/>
              </a:rPr>
              <a:t>Discrete-time LightGBM hazard achieves AUPRC 0.179 at 1 s (2.6x over 6.8% base rate), 0.252 at 2 s, and 0.475 at 5 s, outperforming deployed Event A3 baseline (0.116 at 1 s) and deep sequence models (GRU: 0.158, Transformer: 0.155).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50" b="1">
                <a:solidFill>
                  <a:srgbClr val="002060"/>
                </a:solidFill>
                <a:latin typeface="Calibri"/>
              </a:rPr>
              <a:t>• 100% Horizon Monotonicity: </a:t>
            </a:r>
            <a:r>
              <a:rPr sz="1750" b="0">
                <a:solidFill>
                  <a:srgbClr val="222222"/>
                </a:solidFill>
                <a:latin typeface="Calibri"/>
              </a:rPr>
              <a:t>Hazard formulation yields exactly 0.0% horizon ordering violations, whereas independent binary classifiers produce 40.2% contradictory violations across horizons.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50" b="1">
                <a:solidFill>
                  <a:srgbClr val="002060"/>
                </a:solidFill>
                <a:latin typeface="Calibri"/>
              </a:rPr>
              <a:t>• Conformal Risk Verification: </a:t>
            </a:r>
            <a:r>
              <a:rPr sz="1750" b="0">
                <a:solidFill>
                  <a:srgbClr val="222222"/>
                </a:solidFill>
                <a:latin typeface="Calibri"/>
              </a:rPr>
              <a:t>At target alpha = 0.20, certified warning threshold achieves realised mean per-unit loss of 0.168 (47% alarm rate) under exchangeable pooling and holds in 83% of cross-campaign holdout rotations.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50" b="1">
                <a:solidFill>
                  <a:srgbClr val="002060"/>
                </a:solidFill>
                <a:latin typeface="Calibri"/>
              </a:rPr>
              <a:t>• Network Operating Realities: </a:t>
            </a:r>
            <a:r>
              <a:rPr sz="1750" b="0">
                <a:solidFill>
                  <a:srgbClr val="222222"/>
                </a:solidFill>
                <a:latin typeface="Calibri"/>
              </a:rPr>
              <a:t>74.8% of A3 handovers fire under positive offset (+1 dB dominant). Between 63% and 73% of triggered A3 episodes are declined by the eNodeB without a handover command.</a:t>
            </a:r>
          </a:p>
        </p:txBody>
      </p:sp>
      <p:pic>
        <p:nvPicPr>
          <p:cNvPr id="150" name="Picture 149" descr="fig_c3_m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0" y="10424160"/>
            <a:ext cx="8778240" cy="4937760"/>
          </a:xfrm>
          <a:prstGeom prst="rect">
            <a:avLst/>
          </a:prstGeom>
        </p:spPr>
      </p:pic>
      <p:pic>
        <p:nvPicPr>
          <p:cNvPr id="151" name="Picture 150" descr="fig_c10_cr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0" y="15590520"/>
            <a:ext cx="8778240" cy="4005072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7922240" y="20574000"/>
            <a:ext cx="140817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1. Diagnostic Alignment Audit: </a:t>
            </a:r>
            <a:r>
              <a:rPr sz="1700" b="0">
                <a:solidFill>
                  <a:srgbClr val="222222"/>
                </a:solidFill>
                <a:latin typeface="Calibri"/>
              </a:rPr>
              <a:t>First systematic demonstration that commercial diagnostic 1 Hz exports suffer a write-before-read logging artifact, removing spurious results and establishing a reproducibility standard.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2. Coherent Hazard Framework: </a:t>
            </a:r>
            <a:r>
              <a:rPr sz="1700" b="0">
                <a:solidFill>
                  <a:srgbClr val="222222"/>
                </a:solidFill>
                <a:latin typeface="Calibri"/>
              </a:rPr>
              <a:t>First unified discrete-time survival formulation applied to multi-horizon mobility prediction, eliminating horizon incoherence by construction.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3. Clustered Conformal Risk Guarantees: </a:t>
            </a:r>
            <a:r>
              <a:rPr sz="1700" b="0">
                <a:solidFill>
                  <a:srgbClr val="222222"/>
                </a:solidFill>
                <a:latin typeface="Calibri"/>
              </a:rPr>
              <a:t>First deployment of Conformal Risk Control on drive-test sessions, testing exchangeability across routes and revealing the 36.4% evaluation policy limit under post-handover blanking.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4. 22-Model Meta-Audit: </a:t>
            </a:r>
            <a:r>
              <a:rPr sz="1700" b="0">
                <a:solidFill>
                  <a:srgbClr val="222222"/>
                </a:solidFill>
                <a:latin typeface="Calibri"/>
              </a:rPr>
              <a:t>Screened 108 papers and audited 22 models, demonstrating that random-row evaluation inflates scores by up to 48% and corrupts comparative leaderboards.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922240" y="24551640"/>
            <a:ext cx="14081760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Zero Hardware Changes: </a:t>
            </a:r>
            <a:r>
              <a:rPr sz="1700" b="0">
                <a:solidFill>
                  <a:srgbClr val="222222"/>
                </a:solidFill>
                <a:latin typeface="Calibri"/>
              </a:rPr>
              <a:t>Purely software-based inference executable on handset baseband chipsets or integrated as an auxiliary background telemetry daemon.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Open-RAN (O-RAN) xApp Compatibility: </a:t>
            </a:r>
            <a:r>
              <a:rPr sz="1700" b="0">
                <a:solidFill>
                  <a:srgbClr val="222222"/>
                </a:solidFill>
                <a:latin typeface="Calibri"/>
              </a:rPr>
              <a:t>Easily packaged as a near-Real-Time RIC xApp or non-RT rApp, receiving standard E2 measurement reports to guide proactive Traffic Steering (TS) and QoS optimization.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• Signalling Overhead &amp; Energy Reduction: </a:t>
            </a:r>
            <a:r>
              <a:rPr sz="1700" b="0">
                <a:solidFill>
                  <a:srgbClr val="222222"/>
                </a:solidFill>
                <a:latin typeface="Calibri"/>
              </a:rPr>
              <a:t>Early target cell preparation mitigates user-plane interruption and eliminates up to 26.3% wasteful ping-pong executions, saving base-station capacity and UE power.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4423624" y="27660600"/>
            <a:ext cx="7580375" cy="6071616"/>
          </a:xfrm>
          <a:prstGeom prst="roundRect">
            <a:avLst/>
          </a:prstGeom>
          <a:solidFill>
            <a:srgbClr val="FAFCFD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4423624" y="27660600"/>
            <a:ext cx="7580375" cy="6071616"/>
          </a:xfrm>
          <a:prstGeom prst="rect">
            <a:avLst/>
          </a:prstGeom>
          <a:noFill/>
        </p:spPr>
        <p:txBody>
          <a:bodyPr wrap="square" lIns="164592" rIns="164592" tIns="128016" bIns="128016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PO3 / PO4 / PO5: </a:t>
            </a:r>
            <a:r>
              <a:rPr sz="1650" b="0">
                <a:solidFill>
                  <a:srgbClr val="222222"/>
                </a:solidFill>
                <a:latin typeface="Calibri"/>
              </a:rPr>
              <a:t>Design of experiments on live operator LTE network; rigorous multi-campaign data analysis; modern machine learning and diagnostic toolchain.</a:t>
            </a:r>
          </a:p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PO6 / PO7 / PO8: </a:t>
            </a:r>
            <a:r>
              <a:rPr sz="1650" b="0">
                <a:solidFill>
                  <a:srgbClr val="222222"/>
                </a:solidFill>
                <a:latin typeface="Calibri"/>
              </a:rPr>
              <a:t>Operator anonymity preserved; societal impact through signaling energy waste characterization; professional ethics in reporting negative results.</a:t>
            </a:r>
          </a:p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PO10 / PO11: </a:t>
            </a:r>
            <a:r>
              <a:rPr sz="1650" b="0">
                <a:solidFill>
                  <a:srgbClr val="222222"/>
                </a:solidFill>
                <a:latin typeface="Calibri"/>
              </a:rPr>
              <a:t>Exhaustive documentation across 7 chapters; engineering management and resource allocation over two academic terms.</a:t>
            </a:r>
          </a:p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K3 / K4 / K5 / K6: </a:t>
            </a:r>
            <a:r>
              <a:rPr sz="1650" b="0">
                <a:solidFill>
                  <a:srgbClr val="222222"/>
                </a:solidFill>
                <a:latin typeface="Calibri"/>
              </a:rPr>
              <a:t>Mathematical survival analysis fundamentals; specialized RRC decoding under 3GPP TS 36.331; causal feature design; live-network instrumentation.</a:t>
            </a:r>
          </a:p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K7 / K8: </a:t>
            </a:r>
            <a:r>
              <a:rPr sz="1650" b="0">
                <a:solidFill>
                  <a:srgbClr val="222222"/>
                </a:solidFill>
                <a:latin typeface="Calibri"/>
              </a:rPr>
              <a:t>Societal role of mobile broadband; critical synthesis of 108 papers and 22 audited models.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Complex Problems (P1-P7, A1-A5): </a:t>
            </a:r>
            <a:r>
              <a:rPr sz="1650" b="0">
                <a:solidFill>
                  <a:srgbClr val="222222"/>
                </a:solidFill>
                <a:latin typeface="Calibri"/>
              </a:rPr>
              <a:t>Resolution of conflicting alarm-vs-miss trade-offs; non-standard evaluation procedures; integration across radio propagation, survival theory, and cellular control plane.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922240" y="34564320"/>
            <a:ext cx="140817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[1] </a:t>
            </a:r>
            <a:r>
              <a:rPr sz="1750">
                <a:solidFill>
                  <a:srgbClr val="222222"/>
                </a:solidFill>
                <a:latin typeface="Calibri"/>
              </a:rPr>
              <a:t>G. Ke, Q. Meng, T. Finley, T. Wang, W. Chen, W. Ma, Q. Ye, and T.-Y. Liu, "LightGBM: A highly efficient gradient boosting decision tree," in Advances in Neural Information Processing Systems (NeurIPS), vol. 30, pp. 3146–3154, 2017.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[2] </a:t>
            </a:r>
            <a:r>
              <a:rPr sz="1750">
                <a:solidFill>
                  <a:srgbClr val="222222"/>
                </a:solidFill>
                <a:latin typeface="Calibri"/>
              </a:rPr>
              <a:t>A. N. Angelopoulos, S. Bates, C. Candès, M. I. Jordan, and L. Lei, "Learn then test: Calibrating predictive algorithms to satisfy risk bounds," Biometrika, 2024.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[3] </a:t>
            </a:r>
            <a:r>
              <a:rPr sz="1750">
                <a:solidFill>
                  <a:srgbClr val="222222"/>
                </a:solidFill>
                <a:latin typeface="Calibri"/>
              </a:rPr>
              <a:t>3GPP, "Evolved Universal Terrestrial Radio Access (E-UTRA); Radio Resource Control (RRC); Protocol specification," 3rd Generation Partnership Project (3GPP), Technical Specification (TS) 36.331, Rel. 16, 2020.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[4] </a:t>
            </a:r>
            <a:r>
              <a:rPr sz="1750">
                <a:solidFill>
                  <a:srgbClr val="222222"/>
                </a:solidFill>
                <a:latin typeface="Calibri"/>
              </a:rPr>
              <a:t>A. Ghoshal, P. V. Mekala, B. B. B. Dantu, and J. Erman, "Understanding LTE handover dynamics in the wild," in Proc. ACM Internet Measurement Conference (IMC), pp. 696–709, 2020.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[5] </a:t>
            </a:r>
            <a:r>
              <a:rPr sz="1750">
                <a:solidFill>
                  <a:srgbClr val="222222"/>
                </a:solidFill>
                <a:latin typeface="Calibri"/>
              </a:rPr>
              <a:t>S. V. R. Mandapati, "Meta-continual mobility forecasting for proactive handover prediction," arXiv preprint arXiv:2512.11841, 2025.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[6] </a:t>
            </a:r>
            <a:r>
              <a:rPr sz="1750">
                <a:solidFill>
                  <a:srgbClr val="222222"/>
                </a:solidFill>
                <a:latin typeface="Calibri"/>
              </a:rPr>
              <a:t>N. Amirova, T. Taleb, and H. Flinck, "Data-driven machine learning analysis of handover behavior in operational mobile networks," Future Internet, vol. 18, no. 6, p. 290, 2026.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50" b="1">
                <a:solidFill>
                  <a:srgbClr val="006600"/>
                </a:solidFill>
                <a:latin typeface="Calibri"/>
              </a:rPr>
              <a:t>[7] </a:t>
            </a:r>
            <a:r>
              <a:rPr sz="1750">
                <a:solidFill>
                  <a:srgbClr val="222222"/>
                </a:solidFill>
                <a:latin typeface="Calibri"/>
              </a:rPr>
              <a:t>S. Sakib, A. Kalim, E. Ashfaque, and M. T. Kawser, "Conformalized Discrete-Time Hazard Modeling for Multi-Horizon Handover Forecasting in Cellular Networks," B.Sc. Thesis, Dept. of Electrical and Electronic Engineering, Islamic University of Technology (IUT), 2026.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7922240" y="39456360"/>
            <a:ext cx="14081760" cy="3108960"/>
          </a:xfrm>
          <a:prstGeom prst="roundRect">
            <a:avLst/>
          </a:prstGeom>
          <a:solidFill>
            <a:srgbClr val="F2F8F4"/>
          </a:solidFill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7922240" y="39456360"/>
            <a:ext cx="14081760" cy="3108960"/>
          </a:xfrm>
          <a:prstGeom prst="rect">
            <a:avLst/>
          </a:prstGeom>
          <a:noFill/>
        </p:spPr>
        <p:txBody>
          <a:bodyPr wrap="square" lIns="182880" rIns="182880" tIns="137160" bIns="13716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6600"/>
                </a:solidFill>
                <a:latin typeface="Calibri"/>
              </a:rPr>
              <a:t>• OPEN-SOURCE BENCHMARK &amp; REPRODUCIBILITY ARTIFACTS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Causal Signalling &amp; Telemetry Pipeline: </a:t>
            </a:r>
            <a:r>
              <a:rPr sz="1650" b="0">
                <a:solidFill>
                  <a:srgbClr val="222222"/>
                </a:solidFill>
                <a:latin typeface="Calibri"/>
              </a:rPr>
              <a:t>Complete Python framework, millisecond-precision 3GPP TS 36.331 RRC protocol decoders, 112 strictly causal radio and mobility feature builders, and automated verification testbenches.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>
                <a:solidFill>
                  <a:srgbClr val="002060"/>
                </a:solidFill>
                <a:latin typeface="Calibri"/>
              </a:rPr>
              <a:t>• Conformal Calibration &amp; Model Checkpoints: </a:t>
            </a:r>
            <a:r>
              <a:rPr sz="1650" b="0">
                <a:solidFill>
                  <a:srgbClr val="222222"/>
                </a:solidFill>
                <a:latin typeface="Calibri"/>
              </a:rPr>
              <a:t>Production LightGBM hazard models, Leave-One-Campaign-Out cross-validation harnesses, and distribution-free CRC calibration algorithms open-sourced under Apache-2.0.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2013-12-03T00:45:00Z</dcterms:created>
  <dc:creator>David Nolfi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04BAEC655B694614A290161AC67090F0_12</vt:lpwstr>
  </property>
  <property fmtid="{D5CDD505-2E9C-101B-9397-08002B2CF9AE}" pid="3" name="KSOProductBuildVer">
    <vt:lpwstr>1033-12.2.0.13489</vt:lpwstr>
  </property>
</Properties>
</file>