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131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70554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3360" y="183964"/>
            <a:ext cx="8412150" cy="14311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 dirty="0" err="1" smtClean="0">
                <a:solidFill>
                  <a:srgbClr val="8913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Conformalized</a:t>
            </a:r>
            <a:r>
              <a:rPr lang="en-US" sz="2800" b="1" dirty="0" smtClean="0">
                <a:solidFill>
                  <a:srgbClr val="8913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8913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Discrete-Time Hazard Modeling for Multi-Horizon Handover Forecasting in Cellular Networks</a:t>
            </a:r>
            <a:endParaRPr sz="4000" b="1" dirty="0">
              <a:solidFill>
                <a:srgbClr val="8913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360" y="1468146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 dirty="0">
                <a:solidFill>
                  <a:srgbClr val="262626"/>
                </a:solidFill>
                <a:latin typeface="Arial"/>
              </a:rPr>
              <a:t>How early can a handover be seen, and how far can the answer be trusted?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213360" y="1928019"/>
            <a:ext cx="10434711" cy="11900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 dirty="0" err="1" smtClean="0">
                <a:solidFill>
                  <a:srgbClr val="262626"/>
                </a:solidFill>
                <a:latin typeface="Arial"/>
              </a:rPr>
              <a:t>Saadman</a:t>
            </a:r>
            <a:r>
              <a:rPr lang="en-US" sz="1900" b="1" i="0" dirty="0" smtClean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900" b="1" i="0" dirty="0" err="1" smtClean="0">
                <a:solidFill>
                  <a:srgbClr val="262626"/>
                </a:solidFill>
                <a:latin typeface="Arial"/>
              </a:rPr>
              <a:t>Sakib</a:t>
            </a:r>
            <a:r>
              <a:rPr lang="en-US" sz="1900" b="1" i="0" dirty="0" smtClean="0">
                <a:solidFill>
                  <a:srgbClr val="262626"/>
                </a:solidFill>
                <a:latin typeface="Arial"/>
              </a:rPr>
              <a:t>                         </a:t>
            </a:r>
            <a:r>
              <a:rPr lang="en-US" sz="1900" b="1" i="0" dirty="0" err="1" smtClean="0">
                <a:solidFill>
                  <a:srgbClr val="262626"/>
                </a:solidFill>
                <a:latin typeface="Arial"/>
              </a:rPr>
              <a:t>Adhnan</a:t>
            </a:r>
            <a:r>
              <a:rPr lang="en-US" sz="1900" b="1" i="0" dirty="0" smtClean="0">
                <a:solidFill>
                  <a:srgbClr val="262626"/>
                </a:solidFill>
                <a:latin typeface="Arial"/>
              </a:rPr>
              <a:t> </a:t>
            </a:r>
            <a:r>
              <a:rPr lang="en-US" sz="1900" b="1" i="0" dirty="0" err="1" smtClean="0">
                <a:solidFill>
                  <a:srgbClr val="262626"/>
                </a:solidFill>
                <a:latin typeface="Arial"/>
              </a:rPr>
              <a:t>Kalim</a:t>
            </a:r>
            <a:r>
              <a:rPr lang="en-US" sz="1900" b="1" i="0" dirty="0" smtClean="0">
                <a:solidFill>
                  <a:srgbClr val="262626"/>
                </a:solidFill>
                <a:latin typeface="Arial"/>
              </a:rPr>
              <a:t>                      Evan </a:t>
            </a:r>
            <a:r>
              <a:rPr lang="en-US" sz="1900" b="1" i="0" dirty="0" err="1" smtClean="0">
                <a:solidFill>
                  <a:srgbClr val="262626"/>
                </a:solidFill>
                <a:latin typeface="Arial"/>
              </a:rPr>
              <a:t>Ashfaque</a:t>
            </a:r>
            <a:endParaRPr sz="1900" b="1" i="0" dirty="0">
              <a:solidFill>
                <a:srgbClr val="262626"/>
              </a:solidFill>
              <a:latin typeface="Arial"/>
            </a:endParaRPr>
          </a:p>
          <a:p>
            <a:pPr>
              <a:spcAft>
                <a:spcPts val="700"/>
              </a:spcAft>
            </a:pPr>
            <a:r>
              <a:rPr sz="1300" b="0" i="0" dirty="0">
                <a:solidFill>
                  <a:srgbClr val="777777"/>
                </a:solidFill>
                <a:latin typeface="Arial"/>
              </a:rPr>
              <a:t>Student </a:t>
            </a:r>
            <a:r>
              <a:rPr sz="1300" b="0" i="0" dirty="0" smtClean="0">
                <a:solidFill>
                  <a:srgbClr val="777777"/>
                </a:solidFill>
                <a:latin typeface="Arial"/>
              </a:rPr>
              <a:t>ID</a:t>
            </a:r>
            <a:r>
              <a:rPr lang="en-US" sz="1300" dirty="0">
                <a:solidFill>
                  <a:srgbClr val="777777"/>
                </a:solidFill>
                <a:latin typeface="Arial"/>
              </a:rPr>
              <a:t>: 210021110                                      Student ID: </a:t>
            </a:r>
            <a:r>
              <a:rPr lang="en-US" sz="1300" dirty="0" smtClean="0">
                <a:solidFill>
                  <a:srgbClr val="777777"/>
                </a:solidFill>
                <a:latin typeface="Arial"/>
              </a:rPr>
              <a:t>210021308                               </a:t>
            </a:r>
            <a:r>
              <a:rPr lang="en-US" sz="1300" dirty="0">
                <a:solidFill>
                  <a:srgbClr val="777777"/>
                </a:solidFill>
                <a:latin typeface="Arial"/>
              </a:rPr>
              <a:t>Student ID: </a:t>
            </a:r>
            <a:r>
              <a:rPr lang="en-US" sz="1300" dirty="0" smtClean="0">
                <a:solidFill>
                  <a:srgbClr val="777777"/>
                </a:solidFill>
                <a:latin typeface="Arial"/>
              </a:rPr>
              <a:t>210021335</a:t>
            </a:r>
            <a:endParaRPr lang="en-US" sz="1300" dirty="0">
              <a:solidFill>
                <a:srgbClr val="777777"/>
              </a:solidFill>
              <a:latin typeface="Arial"/>
            </a:endParaRPr>
          </a:p>
          <a:p>
            <a:pPr>
              <a:spcAft>
                <a:spcPts val="700"/>
              </a:spcAft>
            </a:pPr>
            <a:endParaRPr lang="en-US" sz="1300" dirty="0">
              <a:solidFill>
                <a:srgbClr val="777777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endParaRPr sz="1300" b="0" i="0" dirty="0">
              <a:solidFill>
                <a:srgbClr val="777777"/>
              </a:solidFill>
              <a:latin typeface="Arial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73025" y="3873780"/>
            <a:ext cx="7863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891313"/>
                </a:solidFill>
                <a:latin typeface="Arial"/>
              </a:rPr>
              <a:t>B.Sc. Thesis </a:t>
            </a:r>
            <a:r>
              <a:rPr sz="1400" b="1" i="0" dirty="0" err="1">
                <a:solidFill>
                  <a:srgbClr val="891313"/>
                </a:solidFill>
                <a:latin typeface="Arial"/>
              </a:rPr>
              <a:t>Defence</a:t>
            </a:r>
            <a:r>
              <a:rPr sz="1400" b="1" i="0" dirty="0">
                <a:solidFill>
                  <a:srgbClr val="891313"/>
                </a:solidFill>
                <a:latin typeface="Arial"/>
              </a:rPr>
              <a:t>   |   </a:t>
            </a:r>
            <a:r>
              <a:rPr lang="en-US" sz="1400" b="1" dirty="0" smtClean="0">
                <a:solidFill>
                  <a:srgbClr val="891313"/>
                </a:solidFill>
                <a:latin typeface="Arial"/>
              </a:rPr>
              <a:t>16 September, 2026</a:t>
            </a:r>
            <a:endParaRPr sz="1400" b="1" i="0" dirty="0">
              <a:solidFill>
                <a:srgbClr val="891313"/>
              </a:solidFill>
              <a:latin typeface="Arial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73025" y="2595780"/>
            <a:ext cx="6019214" cy="1472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262626"/>
                </a:solidFill>
                <a:latin typeface="Arial"/>
              </a:rPr>
              <a:t>Supervisor: </a:t>
            </a:r>
            <a:r>
              <a:rPr lang="en-US" b="1" dirty="0" smtClean="0">
                <a:solidFill>
                  <a:srgbClr val="262626"/>
                </a:solidFill>
                <a:latin typeface="Arial"/>
              </a:rPr>
              <a:t>Dr. Mohammad </a:t>
            </a:r>
            <a:r>
              <a:rPr lang="en-US" b="1" dirty="0" err="1" smtClean="0">
                <a:solidFill>
                  <a:srgbClr val="262626"/>
                </a:solidFill>
                <a:latin typeface="Arial"/>
              </a:rPr>
              <a:t>Tawhid</a:t>
            </a:r>
            <a:r>
              <a:rPr lang="en-US" b="1" dirty="0" smtClean="0">
                <a:solidFill>
                  <a:srgbClr val="262626"/>
                </a:solidFill>
                <a:latin typeface="Arial"/>
              </a:rPr>
              <a:t> </a:t>
            </a:r>
            <a:r>
              <a:rPr lang="en-US" b="1" dirty="0" err="1" smtClean="0">
                <a:solidFill>
                  <a:srgbClr val="262626"/>
                </a:solidFill>
                <a:latin typeface="Arial"/>
              </a:rPr>
              <a:t>Kawser</a:t>
            </a:r>
            <a:endParaRPr lang="en-US" b="1" dirty="0">
              <a:solidFill>
                <a:srgbClr val="262626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400" b="1" dirty="0" smtClean="0">
                <a:solidFill>
                  <a:srgbClr val="262626"/>
                </a:solidFill>
                <a:latin typeface="Arial"/>
              </a:rPr>
              <a:t>Professor</a:t>
            </a:r>
            <a:endParaRPr lang="en-US" sz="1400" b="1" dirty="0">
              <a:solidFill>
                <a:srgbClr val="262626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777777"/>
                </a:solidFill>
                <a:latin typeface="Arial"/>
              </a:rPr>
              <a:t>Islamic University of Technology, </a:t>
            </a:r>
            <a:r>
              <a:rPr lang="en-US" sz="1400" dirty="0" err="1">
                <a:solidFill>
                  <a:srgbClr val="777777"/>
                </a:solidFill>
                <a:latin typeface="Arial"/>
              </a:rPr>
              <a:t>Gazipur</a:t>
            </a:r>
            <a:r>
              <a:rPr lang="en-US" sz="1400" dirty="0">
                <a:solidFill>
                  <a:srgbClr val="777777"/>
                </a:solidFill>
                <a:latin typeface="Arial"/>
              </a:rPr>
              <a:t>, Bangladesh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Outline of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3957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1.  Title page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2.  Outline of the presentation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3.  Background, motivation and objectives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4.  Research methodology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5.  Proposed system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6.  Theory, modelling and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95728"/>
            <a:ext cx="5029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7.  Knowledge profile and complex problems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8.  Impact on society and sustainability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9.  Results and discussions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10.  Conclusion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11.  Future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Four things to take away: the problem, the system, the evidence, and the boundary of the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using a rule that can only react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143" y="2258568"/>
            <a:ext cx="5232728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phone measures </a:t>
            </a:r>
            <a:r>
              <a:rPr sz="1700">
                <a:solidFill>
                  <a:srgbClr val="262626"/>
                </a:solidFill>
                <a:latin typeface="Arial"/>
              </a:rPr>
              <a:t>its own cell and its neighbours, once per second.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Event A3 fires </a:t>
            </a:r>
            <a:r>
              <a:rPr sz="1700">
                <a:solidFill>
                  <a:srgbClr val="262626"/>
                </a:solidFill>
                <a:latin typeface="Arial"/>
              </a:rPr>
              <a:t>when a neighbour becomes better by a fixed offset and stays better for a fixed time.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Only then </a:t>
            </a:r>
            <a:r>
              <a:rPr sz="1700">
                <a:solidFill>
                  <a:srgbClr val="262626"/>
                </a:solidFill>
                <a:latin typeface="Arial"/>
              </a:rPr>
              <a:t>is a report sent, and only then does the network decide.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On this network </a:t>
            </a:r>
            <a:r>
              <a:rPr sz="1700">
                <a:solidFill>
                  <a:srgbClr val="262626"/>
                </a:solidFill>
                <a:latin typeface="Arial"/>
              </a:rPr>
              <a:t>the offset is +1 dB and the time-to-trigger is 320 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By definition the rule cannot act until the radio has already gone bad.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time-to-trigger per 3GPP TS 36.331. Parameters read from the operator's own configuration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cost of reacting late is measurable on our own data</a:t>
            </a:r>
          </a:p>
        </p:txBody>
      </p:sp>
      <p:pic>
        <p:nvPicPr>
          <p:cNvPr id="5" name="Picture 4" descr="fig27_neces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89" y="2258568"/>
            <a:ext cx="604903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938 handovers in 2.9 hours </a:t>
            </a:r>
            <a:r>
              <a:rPr sz="1700">
                <a:solidFill>
                  <a:srgbClr val="262626"/>
                </a:solidFill>
                <a:latin typeface="Arial"/>
              </a:rPr>
              <a:t>- about one every eleven seconds.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quarter go straight back </a:t>
            </a:r>
            <a:r>
              <a:rPr sz="1700">
                <a:solidFill>
                  <a:srgbClr val="262626"/>
                </a:solidFill>
                <a:latin typeface="Arial"/>
              </a:rPr>
              <a:t>to the cell just left. Those are wasted.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link dropped 341 times </a:t>
            </a:r>
            <a:r>
              <a:rPr sz="1700">
                <a:solidFill>
                  <a:srgbClr val="262626"/>
                </a:solidFill>
                <a:latin typeface="Arial"/>
              </a:rPr>
              <a:t>and had to be re-established.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And nobody has built the predictor: </a:t>
            </a:r>
            <a:r>
              <a:rPr sz="1700">
                <a:solidFill>
                  <a:srgbClr val="262626"/>
                </a:solidFill>
                <a:latin typeface="Arial"/>
              </a:rPr>
              <a:t>of 22 comparable published models, none is tested on unseen drives.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 one-second warning would let the network prepare, or decide not to hand over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Left: counted from the four measurement campaigns. Right: a review of 22 comparable published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gives a usable predictor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00" y="2258568"/>
            <a:ext cx="5356414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Measurement studies </a:t>
            </a:r>
            <a:r>
              <a:rPr sz="1400">
                <a:solidFill>
                  <a:srgbClr val="262626"/>
                </a:solidFill>
                <a:latin typeface="Arial"/>
              </a:rPr>
              <a:t>have exactly the ground truth we need - and build no predictor.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Prediction studies </a:t>
            </a:r>
            <a:r>
              <a:rPr sz="1400">
                <a:solidFill>
                  <a:srgbClr val="262626"/>
                </a:solidFill>
                <a:latin typeface="Arial"/>
              </a:rPr>
              <a:t>build models, but mostly on simulation and mostly without a proper split.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We screened 108 papers; </a:t>
            </a:r>
            <a:r>
              <a:rPr sz="1400">
                <a:solidFill>
                  <a:srgbClr val="262626"/>
                </a:solidFill>
                <a:latin typeface="Arial"/>
              </a:rPr>
              <a:t>22 of them predict handover, link failure or the next cell.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Of those 22: </a:t>
            </a:r>
            <a:r>
              <a:rPr sz="1400">
                <a:solidFill>
                  <a:srgbClr val="262626"/>
                </a:solidFill>
                <a:latin typeface="Arial"/>
              </a:rPr>
              <a:t>none tests on unseen drives, none reports whether its probabilities are trustworthy, and none reports how much warning it gives.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review is about method, not about anyone's numbers: we are saying we cannot tell, not that they are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108 references screened over three passes; 22 are comparable models, reviewed on a fixed checklist.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3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Five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O1  Predict the next handover </a:t>
            </a:r>
            <a:r>
              <a:rPr sz="1800">
                <a:solidFill>
                  <a:srgbClr val="262626"/>
                </a:solidFill>
                <a:latin typeface="Arial"/>
              </a:rPr>
              <a:t>at five look-ahead times - 0.5, 1, 2, 3 and 5 seconds - from what a phone can observe at that moment.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O2  Compare models fairly, </a:t>
            </a:r>
            <a:r>
              <a:rPr sz="1800">
                <a:solidFill>
                  <a:srgbClr val="262626"/>
                </a:solidFill>
                <a:latin typeface="Arial"/>
              </a:rPr>
              <a:t>under a test that cannot leak information from training into testing.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O3  Make the probabilities usable: </a:t>
            </a:r>
            <a:r>
              <a:rPr sz="1800">
                <a:solidFill>
                  <a:srgbClr val="262626"/>
                </a:solidFill>
                <a:latin typeface="Arial"/>
              </a:rPr>
              <a:t>consistent across look-ahead times, correctly calibrated, and with a guaranteed limit on missed handovers.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O4  Check it still works </a:t>
            </a:r>
            <a:r>
              <a:rPr sz="1800">
                <a:solidFill>
                  <a:srgbClr val="262626"/>
                </a:solidFill>
                <a:latin typeface="Arial"/>
              </a:rPr>
              <a:t>on a road the model has never seen.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O5  Explain why it works, </a:t>
            </a:r>
            <a:r>
              <a:rPr sz="1800">
                <a:solidFill>
                  <a:srgbClr val="262626"/>
                </a:solidFill>
                <a:latin typeface="Arial"/>
              </a:rPr>
              <a:t>and what the network is actually doing.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Each objective is answered later in the talk, and the conclusion says how far each one goes.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4 ·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work follows five simple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286000"/>
            <a:ext cx="102412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1.  Collect.  </a:t>
            </a:r>
            <a:r>
              <a:rPr sz="1800">
                <a:solidFill>
                  <a:srgbClr val="262626"/>
                </a:solidFill>
                <a:latin typeface="Arial"/>
              </a:rPr>
              <a:t>Drive a measurement handset over real roads, recording the radio measurements once per second and the full LTE signalling.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2.  Label.  </a:t>
            </a:r>
            <a:r>
              <a:rPr sz="1800">
                <a:solidFill>
                  <a:srgbClr val="262626"/>
                </a:solidFill>
                <a:latin typeface="Arial"/>
              </a:rPr>
              <a:t>Read the signalling to find the exact moment of every handover, and mark each sample with whether one follows within 0.5 to 5 seconds.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3.  Describe.  </a:t>
            </a:r>
            <a:r>
              <a:rPr sz="1800">
                <a:solidFill>
                  <a:srgbClr val="262626"/>
                </a:solidFill>
                <a:latin typeface="Arial"/>
              </a:rPr>
              <a:t>Build inputs from the past only - signal strength and quality, how fast they are changing, speed and position, and time on the current cell.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4.  Predict.  </a:t>
            </a:r>
            <a:r>
              <a:rPr sz="1800">
                <a:solidFill>
                  <a:srgbClr val="262626"/>
                </a:solidFill>
                <a:latin typeface="Arial"/>
              </a:rPr>
              <a:t>Train on some drives and test on completely different drives.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5.  Check.  </a:t>
            </a:r>
            <a:r>
              <a:rPr sz="1800">
                <a:solidFill>
                  <a:srgbClr val="262626"/>
                </a:solidFill>
                <a:latin typeface="Arial"/>
              </a:rPr>
              <a:t>Measure not only accuracy, but how trustworthy the probabilities are, how much warning is given, and how many false alarms it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number is produced by an automated pipeline from the raw recordings, so the study can be rebuilt from scratch.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proposed system, in five stages</a:t>
            </a:r>
          </a:p>
        </p:txBody>
      </p:sp>
      <p:pic>
        <p:nvPicPr>
          <p:cNvPr id="5" name="Picture 4" descr="m14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405" y="2212848"/>
            <a:ext cx="8419284" cy="92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02 is what makes the rest possible. </a:t>
            </a:r>
            <a:r>
              <a:rPr sz="1500">
                <a:solidFill>
                  <a:srgbClr val="262626"/>
                </a:solidFill>
                <a:latin typeface="Arial"/>
              </a:rPr>
              <a:t>A handover is read from the decoded RRC command itself, with a millisecond timestamp.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03 uses the past only. </a:t>
            </a:r>
            <a:r>
              <a:rPr sz="1500">
                <a:solidFill>
                  <a:srgbClr val="262626"/>
                </a:solidFill>
                <a:latin typeface="Arial"/>
              </a:rPr>
              <a:t>107 inputs: radio, mobility, history and signalling.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337560"/>
            <a:ext cx="5074920" cy="22037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04 is the modelling idea </a:t>
            </a:r>
            <a:r>
              <a:rPr sz="1500">
                <a:solidFill>
                  <a:srgbClr val="262626"/>
                </a:solidFill>
                <a:latin typeface="Arial"/>
              </a:rPr>
              <a:t>on the next slide.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Stage 05 sets the alarm threshold </a:t>
            </a:r>
            <a:r>
              <a:rPr sz="1500">
                <a:solidFill>
                  <a:srgbClr val="262626"/>
                </a:solidFill>
                <a:latin typeface="Arial"/>
              </a:rPr>
              <a:t>on held-out drives, so the miss rate has a guarantee attached.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No simulation anywhere: every stage runs on measured data from a live operator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Where the ground truth comes from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28" y="2212848"/>
            <a:ext cx="8011438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handover is a decoded RRC command </a:t>
            </a:r>
            <a:r>
              <a:rPr sz="1500">
                <a:solidFill>
                  <a:srgbClr val="262626"/>
                </a:solidFill>
                <a:latin typeface="Arial"/>
              </a:rPr>
              <a:t>with a millisecond timestamp - not a counter we have to trust.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But the configuration arrives in pieces, </a:t>
            </a:r>
            <a:r>
              <a:rPr sz="1500">
                <a:solidFill>
                  <a:srgbClr val="262626"/>
                </a:solidFill>
                <a:latin typeface="Arial"/>
              </a:rPr>
              <a:t>and its identifiers only mean something against the configuration in force at that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Our first parse read them flat, and was wrong: </a:t>
            </a:r>
            <a:r>
              <a:rPr sz="1500">
                <a:solidFill>
                  <a:srgbClr val="262626"/>
                </a:solidFill>
                <a:latin typeface="Arial"/>
              </a:rPr>
              <a:t>it claimed 99.4% of reports were A3, which is impossible, because 43% of reports carry no neighbour at all.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So we rebuild the configuration timeline </a:t>
            </a:r>
            <a:r>
              <a:rPr sz="1500">
                <a:solidFill>
                  <a:srgbClr val="262626"/>
                </a:solidFill>
                <a:latin typeface="Arial"/>
              </a:rPr>
              <a:t>and resolve every report against the state actually in force.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We found this by checking our extraction against a published method, not by reading our own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the model is given</a:t>
            </a:r>
          </a:p>
        </p:txBody>
      </p:sp>
      <p:pic>
        <p:nvPicPr>
          <p:cNvPr id="5" name="Picture 4" descr="m13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863" y="2212848"/>
            <a:ext cx="5000368" cy="1792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206240"/>
            <a:ext cx="507492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152 columns are built and 107 are used, </a:t>
            </a:r>
            <a:r>
              <a:rPr sz="1500">
                <a:solidFill>
                  <a:srgbClr val="262626"/>
                </a:solidFill>
                <a:latin typeface="Arial"/>
              </a:rPr>
              <a:t>after removing those that are empty or constant.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Four groups: </a:t>
            </a:r>
            <a:r>
              <a:rPr sz="1500">
                <a:solidFill>
                  <a:srgbClr val="262626"/>
                </a:solidFill>
                <a:latin typeface="Arial"/>
              </a:rPr>
              <a:t>radio, mobility, history and signalling.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206240"/>
            <a:ext cx="507492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Everything looks backwards only, </a:t>
            </a:r>
            <a:r>
              <a:rPr sz="1500">
                <a:solidFill>
                  <a:srgbClr val="262626"/>
                </a:solidFill>
                <a:latin typeface="Arial"/>
              </a:rPr>
              <a:t>and no window crosses from one drive into another.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One guard matters most: </a:t>
            </a:r>
            <a:r>
              <a:rPr sz="1500">
                <a:solidFill>
                  <a:srgbClr val="262626"/>
                </a:solidFill>
                <a:latin typeface="Arial"/>
              </a:rPr>
              <a:t>a report arrives 50-200 ms before its handover command - inside one sample - so report counts stop one sample early.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smallest group is the strongest: seven history features, and time on the current cell alone reaches 0.874.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5 ·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model, not five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76272"/>
            <a:ext cx="9966960" cy="10058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P(handover within k seconds)  =  1 - (1 - h1)(1 - h2) ... (1 - hk)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01568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obvious approach fails.  </a:t>
            </a:r>
            <a:r>
              <a:rPr sz="1800">
                <a:solidFill>
                  <a:srgbClr val="262626"/>
                </a:solidFill>
                <a:latin typeface="Arial"/>
              </a:rPr>
              <a:t>Five separate classifiers, one per look-ahead time, can return a higher probability at 1 second than at 3 seconds - which is impossible.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one model predicts h,  </a:t>
            </a:r>
            <a:r>
              <a:rPr sz="1800">
                <a:solidFill>
                  <a:srgbClr val="262626"/>
                </a:solidFill>
                <a:latin typeface="Arial"/>
              </a:rPr>
              <a:t>the chance the handover happens in the very next second, given that it has not happened yet.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five answers are products of h,  </a:t>
            </a:r>
            <a:r>
              <a:rPr sz="1800">
                <a:solidFill>
                  <a:srgbClr val="262626"/>
                </a:solidFill>
                <a:latin typeface="Arial"/>
              </a:rPr>
              <a:t>so they can only grow with time. Consistency comes from the arithmetic, not a correction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holds for any learner placed inside it - it is a property of the formula, not of the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THEORY AND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was modelled, and what was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problem is a time-to-event problem. </a:t>
            </a:r>
            <a:r>
              <a:rPr sz="1800">
                <a:solidFill>
                  <a:srgbClr val="262626"/>
                </a:solidFill>
                <a:latin typeface="Arial"/>
              </a:rPr>
              <a:t>Instead of asking 'will it happen in the next k seconds', ask 'given it has not happened yet, does it happen now'. That is a hazard.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Seven models were compared </a:t>
            </a:r>
            <a:r>
              <a:rPr sz="1800">
                <a:solidFill>
                  <a:srgbClr val="262626"/>
                </a:solidFill>
                <a:latin typeface="Arial"/>
              </a:rPr>
              <a:t>under exactly the same formulation: gradient-boosted trees (LightGBM), logistic regression, a multi-layer perceptron, a temporal convolutional network, a Transformer, a GRU, and the network's own A3 rule as a baseline.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No simulation was used. </a:t>
            </a:r>
            <a:r>
              <a:rPr sz="1800">
                <a:solidFill>
                  <a:srgbClr val="262626"/>
                </a:solidFill>
                <a:latin typeface="Arial"/>
              </a:rPr>
              <a:t>Every result in this presentation comes from measured drive-test data on a live network.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metric is read against its floor. </a:t>
            </a:r>
            <a:r>
              <a:rPr sz="1800">
                <a:solidFill>
                  <a:srgbClr val="262626"/>
                </a:solidFill>
                <a:latin typeface="Arial"/>
              </a:rPr>
              <a:t>Handovers are rare, so accuracy would be misleading; every score is compared with what random guessing would achieve at the same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same formulation, the same folds and the same seeds for every model - so the comparison is about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Where the data was collected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51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Four campaigns in Dhaka and Gazipur, </a:t>
            </a:r>
            <a:r>
              <a:rPr sz="1900">
                <a:solidFill>
                  <a:srgbClr val="262626"/>
                </a:solidFill>
                <a:latin typeface="Arial"/>
              </a:rPr>
              <a:t>57 drives and about 95 km of driving.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Three urban corridors </a:t>
            </a:r>
            <a:r>
              <a:rPr sz="1900">
                <a:solidFill>
                  <a:srgbClr val="262626"/>
                </a:solidFill>
                <a:latin typeface="Arial"/>
              </a:rPr>
              <a:t>and one highway run out to Gazipur.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circles are handovers. </a:t>
            </a:r>
            <a:r>
              <a:rPr sz="1900">
                <a:solidFill>
                  <a:srgbClr val="262626"/>
                </a:solidFill>
                <a:latin typeface="Arial"/>
              </a:rPr>
              <a:t>They cluster at particular junctions rather than spreading evenly along the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how the data is split, how it is tested, and what the guarantee is attached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measurement export. Map data (c) OpenStreetMap contributors, ODbL.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measurement campaigns on a live operator network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130131"/>
              </p:ext>
            </p:extLst>
          </p:nvPr>
        </p:nvGraphicFramePr>
        <p:xfrm>
          <a:off x="841248" y="2286000"/>
          <a:ext cx="10515599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Campaign (2026)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Route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Drives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Samples at 1 Hz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Handovers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r>
                        <a:rPr lang="en-US" sz="1400" b="1" baseline="30000" dirty="0" smtClean="0">
                          <a:solidFill>
                            <a:srgbClr val="262626"/>
                          </a:solidFill>
                          <a:latin typeface="Arial"/>
                        </a:rPr>
                        <a:t>st</a:t>
                      </a:r>
                      <a:r>
                        <a:rPr lang="en-US" sz="1400" b="1" dirty="0" smtClean="0">
                          <a:solidFill>
                            <a:srgbClr val="262626"/>
                          </a:solidFill>
                          <a:latin typeface="Arial"/>
                        </a:rPr>
                        <a:t> Campaign</a:t>
                      </a:r>
                      <a:endParaRPr sz="1400" b="1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urban arterial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2,700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46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  <a:r>
                        <a:rPr lang="en-US" sz="1400" b="1" baseline="30000" dirty="0" smtClean="0">
                          <a:solidFill>
                            <a:srgbClr val="262626"/>
                          </a:solidFill>
                          <a:latin typeface="Arial"/>
                        </a:rPr>
                        <a:t>nd</a:t>
                      </a:r>
                      <a:r>
                        <a:rPr lang="en-US" sz="1400" b="1" dirty="0" smtClean="0">
                          <a:solidFill>
                            <a:srgbClr val="262626"/>
                          </a:solidFill>
                          <a:latin typeface="Arial"/>
                        </a:rPr>
                        <a:t> Campaign</a:t>
                      </a:r>
                      <a:endParaRPr sz="1400" b="1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urban loop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1,440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24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  <a:r>
                        <a:rPr lang="en-US" sz="1400" b="1" baseline="30000" dirty="0" smtClean="0">
                          <a:solidFill>
                            <a:srgbClr val="262626"/>
                          </a:solidFill>
                          <a:latin typeface="Arial"/>
                        </a:rPr>
                        <a:t>rd</a:t>
                      </a:r>
                      <a:r>
                        <a:rPr lang="en-US" sz="1400" b="1" dirty="0" smtClean="0">
                          <a:solidFill>
                            <a:srgbClr val="262626"/>
                          </a:solidFill>
                          <a:latin typeface="Arial"/>
                        </a:rPr>
                        <a:t> Campaign</a:t>
                      </a:r>
                      <a:endParaRPr sz="1400" b="1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dense urban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3,600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60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smtClean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  <a:r>
                        <a:rPr lang="en-US" sz="1400" b="1" baseline="30000" smtClean="0">
                          <a:solidFill>
                            <a:srgbClr val="262626"/>
                          </a:solidFill>
                          <a:latin typeface="Arial"/>
                        </a:rPr>
                        <a:t>th</a:t>
                      </a:r>
                      <a:r>
                        <a:rPr lang="en-US" sz="1400" b="1" smtClean="0">
                          <a:solidFill>
                            <a:srgbClr val="262626"/>
                          </a:solidFill>
                          <a:latin typeface="Arial"/>
                        </a:rPr>
                        <a:t> Campaign</a:t>
                      </a:r>
                      <a:endParaRPr sz="1400" b="1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Uttara-Gazipur highway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2,520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43 min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two mobility regimes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10,260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62626"/>
                          </a:solidFill>
                          <a:latin typeface="Arial"/>
                        </a:rPr>
                        <a:t>2.9 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455371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Arial"/>
              </a:rPr>
              <a:t>A drive is a continuous segment of at least 60 s. A whole drive is either trained on or tested on - never both.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highway run was driven after every modelling decision had been fixed, so it is a genuinely unseen test route.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look-ahead time is a rare-event problem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10,260 samples </a:t>
            </a:r>
            <a:r>
              <a:rPr sz="1550">
                <a:solidFill>
                  <a:srgbClr val="262626"/>
                </a:solidFill>
                <a:latin typeface="Arial"/>
              </a:rPr>
              <a:t>on a uniform one-second grid.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The handover rate rises </a:t>
            </a:r>
            <a:r>
              <a:rPr sz="1550">
                <a:solidFill>
                  <a:srgbClr val="262626"/>
                </a:solidFill>
                <a:latin typeface="Arial"/>
              </a:rPr>
              <a:t>from 3.7% at half a second to 25.9% at five seconds.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So accuracy would mislead: </a:t>
            </a:r>
            <a:r>
              <a:rPr sz="1550">
                <a:solidFill>
                  <a:srgbClr val="262626"/>
                </a:solidFill>
                <a:latin typeface="Arial"/>
              </a:rPr>
              <a:t>a model that always answers 'no handover' scores 93.3% at the one-second look-ahead.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891313"/>
                </a:solidFill>
                <a:latin typeface="Arial"/>
              </a:rPr>
              <a:t>Every score in this talk </a:t>
            </a:r>
            <a:r>
              <a:rPr sz="1550">
                <a:solidFill>
                  <a:srgbClr val="262626"/>
                </a:solidFill>
                <a:latin typeface="Arial"/>
              </a:rPr>
              <a:t>is therefore read against the rate chance alone would achieve.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one-second grid limits how many events can be detected at all (90.5%), not how far ahead we can predict.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6 ·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the models were tested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64" y="2212848"/>
            <a:ext cx="6250566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whole drive is either trained on or tested on </a:t>
            </a:r>
            <a:r>
              <a:rPr sz="1500">
                <a:solidFill>
                  <a:srgbClr val="262626"/>
                </a:solidFill>
                <a:latin typeface="Arial"/>
              </a:rPr>
              <a:t>- never both.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Four rotations, </a:t>
            </a:r>
            <a:r>
              <a:rPr sz="1500">
                <a:solidFill>
                  <a:srgbClr val="262626"/>
                </a:solidFill>
                <a:latin typeface="Arial"/>
              </a:rPr>
              <a:t>so every drive is tested exactly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Repeated with five random seeds, </a:t>
            </a:r>
            <a:r>
              <a:rPr sz="1500">
                <a:solidFill>
                  <a:srgbClr val="262626"/>
                </a:solidFill>
                <a:latin typeface="Arial"/>
              </a:rPr>
              <a:t>which gives twenty paired comparisons between any two models.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Confidence intervals </a:t>
            </a:r>
            <a:r>
              <a:rPr sz="1500">
                <a:solidFill>
                  <a:srgbClr val="262626"/>
                </a:solidFill>
                <a:latin typeface="Arial"/>
              </a:rPr>
              <a:t>come from resampling whole drives, not individual samples.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Scalers and alarm thresholds are fitted inside the training folds only, never on the drives used for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7 · KNOWLEDGE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Knowledge profile addressed (WK1-WK8)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32552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695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How this work addresses it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Natural sciences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Radio-wave propagation, path loss and shadowing - why signal strength falls at a cell edge.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Mathematics and statistics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Probability, time-to-event modelling, resampling for confidence intervals, statistical testing.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Engineering fundamentals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Digital communication, cellular network architecture and mobility management.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Specialist knowledge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3GPP LTE RRC protocol (TS 36.331): Event A3, measurement reporting, the handover procedure.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Engineering design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Design of the prediction system, the input feature set and the testing protocol.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WK6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Engineering practice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Drive-test instrumentation, decoding of control-plane logs, a reproducible software pipeline.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Role of engineering in society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Effects on user experience, network signalling load and handset energy - section 8.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9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WK8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Research literature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108 research papers screened; 22 comparable models reviewed on a common checklist.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work needs WK3 to WK8 together; no part of it follows from textbook knowledge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7 · COMPLEX ENGINEERING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Complex engineering problem attributes (P1-P7)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3011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How it arises in this work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Depth of knowledge required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Requires WK3 to WK8 together - protocol, statistics, design and measurement practice.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Range of conflicting requirements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Earlier warning conflicts with more false alarms; a tighter guarantee conflicts with a usable alarm rate.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Depth of analysis required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No standard formulation exists. The time-to-event view was reached after five separate classifiers gave inconsistent answers.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Familiarity of issues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Measurement identifiers are valid only against the configuration in force; overlapping time windows can leak across a careless split.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Extent of applicable codes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3GPP defines the handover procedure, but no standard covers predicting it, or calibrating and evaluating such a system.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P6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Extent of stakeholder involvement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Users, the operator and the regulator want different things: experience, signalling cost and spectrum efficiency.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P7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Interdependence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Signalling decoding, features, modelling, evaluation and uncertainty - a change in one changes the others.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All seven attributes are present, and each trade-off in P2 is measured and reported rather than assumed.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7 · COMPLEX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Complex engineering activity attributes (A1-A5)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286000"/>
          <a:ext cx="10515600" cy="2453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How it arises in this work</a:t>
                      </a:r>
                    </a:p>
                  </a:txBody>
                  <a:tcPr marL="73152" marR="54864" marT="18288" marB="18288" anchor="ctr">
                    <a:solidFill>
                      <a:srgbClr val="F1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Range of resources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 licensed drive-test handset, a survey vehicle, computing resources, and a base of 108 research papers.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Level of interaction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Conflicting technical requirements - lead time, false alarms, calibration and the strength of the guarantee - resolved against one another.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Innovation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Established methods from time-to-event analysis and distribution-free uncertainty were applied to handover prediction for the first time in this form.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A4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Consequences for society and the environment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Less unnecessary signalling and handset energy; better connection quality in dense urban areas - section 8.</a:t>
                      </a:r>
                    </a:p>
                  </a:txBody>
                  <a:tcPr marL="73152" marR="54864" marT="18288" marB="18288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A5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Familiarity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Beyond coursework: decoding a live operator's control-plane signalling, and designing an evaluation protocol not found in the literature.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innovation is in where established methods are pointed, and the protocol that makes the result checkable.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8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Impact on health, society, environment and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Society.  </a:t>
            </a:r>
            <a:r>
              <a:rPr sz="1600">
                <a:solidFill>
                  <a:srgbClr val="262626"/>
                </a:solidFill>
                <a:latin typeface="Arial"/>
              </a:rPr>
              <a:t>Dhaka has one of the densest mobile-user populations in the world, and on our routes a handover happens every eleven seconds. A one- to two-second warning lets the network prepare the target cell, shortening the gap a user hears in a call or a video.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Environment and sustainability.  </a:t>
            </a:r>
            <a:r>
              <a:rPr sz="1600">
                <a:solidFill>
                  <a:srgbClr val="262626"/>
                </a:solidFill>
                <a:latin typeface="Arial"/>
              </a:rPr>
              <a:t>Every unnecessary handover costs signalling messages, base-station processing and handset transmit energy - and about a quarter of handovers here are unnecessary returns. Removing a share of those saves energy, extends battery life and defers the need for more network hardware.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Health.  </a:t>
            </a:r>
            <a:r>
              <a:rPr sz="1600">
                <a:solidFill>
                  <a:srgbClr val="262626"/>
                </a:solidFill>
                <a:latin typeface="Arial"/>
              </a:rPr>
              <a:t>No human subjects, no clinical data and no exposure experiments, so there is no direct health effect. The indirect benefit is reliability: dropped connections matter most for emergency calls and remote-health services.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Ethics and data.  </a:t>
            </a:r>
            <a:r>
              <a:rPr sz="1600">
                <a:solidFill>
                  <a:srgbClr val="262626"/>
                </a:solidFill>
                <a:latin typeface="Arial"/>
              </a:rPr>
              <a:t>The recordings contain only the test handset's own measurements and GPS trace. No subscriber data, user traffic or third-party personal information was collected.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ping-pong finding gives the operator one concrete, low-cost configuration change rather than a general recommendation.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handover is predictable a second before the rule can react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At one second: </a:t>
            </a:r>
            <a:r>
              <a:rPr sz="1500">
                <a:solidFill>
                  <a:srgbClr val="262626"/>
                </a:solidFill>
                <a:latin typeface="Arial"/>
              </a:rPr>
              <a:t>AUROC 0.933, and a precision-recall score of 0.784 against a 6.7% handover rate - nearly twelve times what random guessing achieves.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network's own A3 rule, </a:t>
            </a:r>
            <a:r>
              <a:rPr sz="1500">
                <a:solidFill>
                  <a:srgbClr val="262626"/>
                </a:solidFill>
                <a:latin typeface="Arial"/>
              </a:rPr>
              <a:t>scored on the same data as a predictor, reaches only 0.653.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Simple models win here. </a:t>
            </a:r>
            <a:r>
              <a:rPr sz="1500">
                <a:solidFill>
                  <a:srgbClr val="262626"/>
                </a:solidFill>
                <a:latin typeface="Arial"/>
              </a:rPr>
              <a:t>Gradient-boosted trees lead and logistic regression is second, ahead of every deep model - 57 drives is not enough data for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score is read against the prevalence floor, because accuracy on a rare event would be meaningless.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results over 57 drives from four campaigns, under the grouped-drive test protocol.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a model is tested can change which model appears to win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Same data, same models. </a:t>
            </a:r>
            <a:r>
              <a:rPr sz="1500">
                <a:solidFill>
                  <a:srgbClr val="262626"/>
                </a:solidFill>
                <a:latin typeface="Arial"/>
              </a:rPr>
              <a:t>The only change is splitting by whole drive rather than by random sample.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GRU inflates by 74%; </a:t>
            </a:r>
            <a:r>
              <a:rPr sz="1500">
                <a:solidFill>
                  <a:srgbClr val="262626"/>
                </a:solidFill>
                <a:latin typeface="Arial"/>
              </a:rPr>
              <a:t>logistic regression by only 4%.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Why: </a:t>
            </a:r>
            <a:r>
              <a:rPr sz="1500">
                <a:solidFill>
                  <a:srgbClr val="262626"/>
                </a:solidFill>
                <a:latin typeface="Arial"/>
              </a:rPr>
              <a:t>these models read a 10-second window, so a randomly split sample shares its own history with the training set.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consequence: </a:t>
            </a:r>
            <a:r>
              <a:rPr sz="1500">
                <a:solidFill>
                  <a:srgbClr val="262626"/>
                </a:solidFill>
                <a:latin typeface="Arial"/>
              </a:rPr>
              <a:t>a careless test does not simply raise all scores - it reorders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is a caution for the field, not only for this work: ten of 22 reviewed papers state no split protocol at 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Consistent across look-ahead times, and calibrated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34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Five separate classifiers contradict themselves </a:t>
            </a:r>
            <a:r>
              <a:rPr sz="1400">
                <a:solidFill>
                  <a:srgbClr val="262626"/>
                </a:solidFill>
                <a:latin typeface="Arial"/>
              </a:rPr>
              <a:t>on 43.6% of samples - a higher chance at 1 second than at 3.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The single-model formulation contradicts itself on 0%, </a:t>
            </a:r>
            <a:r>
              <a:rPr sz="1400">
                <a:solidFill>
                  <a:srgbClr val="262626"/>
                </a:solidFill>
                <a:latin typeface="Arial"/>
              </a:rPr>
              <a:t>by construction.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Calibration improves too, </a:t>
            </a:r>
            <a:r>
              <a:rPr sz="1400">
                <a:solidFill>
                  <a:srgbClr val="262626"/>
                </a:solidFill>
                <a:latin typeface="Arial"/>
              </a:rPr>
              <a:t>at every look-ahead time, against an uncalibrated baseline.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91313"/>
                </a:solidFill>
                <a:latin typeface="Arial"/>
              </a:rPr>
              <a:t>Honest point: </a:t>
            </a:r>
            <a:r>
              <a:rPr sz="1400">
                <a:solidFill>
                  <a:srgbClr val="262626"/>
                </a:solidFill>
                <a:latin typeface="Arial"/>
              </a:rPr>
              <a:t>a baseline with its own calibration step can beat us on calibration alone - but it costs held-out drives and 2 to 5 points of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claim is narrow and defensible: consistency, calibration and ranking together, from a single fit.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warning threshold comes with a guarantee, and a price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08" y="2258568"/>
            <a:ext cx="5097199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The threshold is not chosen by hand. </a:t>
            </a:r>
            <a:r>
              <a:rPr sz="1350">
                <a:solidFill>
                  <a:srgbClr val="262626"/>
                </a:solidFill>
                <a:latin typeface="Arial"/>
              </a:rPr>
              <a:t>It is calibrated on 28 drives held out for the purpose.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At a 20% target miss rate: </a:t>
            </a:r>
            <a:r>
              <a:rPr sz="1350">
                <a:solidFill>
                  <a:srgbClr val="262626"/>
                </a:solidFill>
                <a:latin typeface="Arial"/>
              </a:rPr>
              <a:t>it alarms on 23% of samples and actually misses 12.6% of handovers - an operating point a network could run.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At a 5% target: </a:t>
            </a:r>
            <a:r>
              <a:rPr sz="1350">
                <a:solidFill>
                  <a:srgbClr val="262626"/>
                </a:solidFill>
                <a:latin typeface="Arial"/>
              </a:rPr>
              <a:t>the alarm rate is 61%, which nobody would deploy.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How many drives you calibrate on </a:t>
            </a:r>
            <a:r>
              <a:rPr sz="1350">
                <a:solidFill>
                  <a:srgbClr val="262626"/>
                </a:solidFill>
                <a:latin typeface="Arial"/>
              </a:rPr>
              <a:t>sets the tightest target you can even ask for - which makes it something to plan a campaign around.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whole trade-off curve is reported, not the single point that flatters the result.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It still works on a road the model has never seen</a:t>
            </a:r>
          </a:p>
        </p:txBody>
      </p:sp>
      <p:pic>
        <p:nvPicPr>
          <p:cNvPr id="5" name="Picture 4" descr="fig25_capture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27" y="2258568"/>
            <a:ext cx="5926360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Each campaign held out completely: </a:t>
            </a:r>
            <a:r>
              <a:rPr sz="1500">
                <a:solidFill>
                  <a:srgbClr val="262626"/>
                </a:solidFill>
                <a:latin typeface="Arial"/>
              </a:rPr>
              <a:t>AUROC stays between 0.909 and 0.949.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highway scores 0.927, </a:t>
            </a:r>
            <a:r>
              <a:rPr sz="1500">
                <a:solidFill>
                  <a:srgbClr val="262626"/>
                </a:solidFill>
                <a:latin typeface="Arial"/>
              </a:rPr>
              <a:t>with the best calibration of all four - a corridor and a speed the model had never seen.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was driven after </a:t>
            </a:r>
            <a:r>
              <a:rPr sz="1500">
                <a:solidFill>
                  <a:srgbClr val="262626"/>
                </a:solidFill>
                <a:latin typeface="Arial"/>
              </a:rPr>
              <a:t>every modelling decision had been fixed, so nothing was tuned for it.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Honest limit: </a:t>
            </a:r>
            <a:r>
              <a:rPr sz="1500">
                <a:solidFill>
                  <a:srgbClr val="262626"/>
                </a:solidFill>
                <a:latin typeface="Arial"/>
              </a:rPr>
              <a:t>four campaigns give four test points. A strong design, not a large sample.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Adding the fourth campaign changed the headline result by nothing at all: 0.933 before, 0.933 after.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It also works on another team's dataset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88286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Between our own campaigns: </a:t>
            </a:r>
            <a:r>
              <a:rPr sz="1500">
                <a:solidFill>
                  <a:srgbClr val="262626"/>
                </a:solidFill>
                <a:latin typeface="Arial"/>
              </a:rPr>
              <a:t>AUROC stays between 0.88 and 0.93, with nothing shared - no drives, no routes, no cells.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On a public dataset </a:t>
            </a:r>
            <a:r>
              <a:rPr sz="1500">
                <a:solidFill>
                  <a:srgbClr val="262626"/>
                </a:solidFill>
                <a:latin typeface="Arial"/>
              </a:rPr>
              <a:t>collected by a different group, we reach 0.752.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 model trained on that data </a:t>
            </a:r>
            <a:r>
              <a:rPr sz="1500">
                <a:solidFill>
                  <a:srgbClr val="262626"/>
                </a:solidFill>
                <a:latin typeface="Arial"/>
              </a:rPr>
              <a:t>reaches 0.745 on itself.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absolute level is lower </a:t>
            </a:r>
            <a:r>
              <a:rPr sz="1500">
                <a:solidFill>
                  <a:srgbClr val="262626"/>
                </a:solidFill>
                <a:latin typeface="Arial"/>
              </a:rPr>
              <a:t>because that dataset has no GPS, so our mobility inputs are unavailable.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Not degrading - reaching what that data supports.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Why it works: the network triggers on its weakest signal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04" y="2258568"/>
            <a:ext cx="5530606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best single input </a:t>
            </a:r>
            <a:r>
              <a:rPr sz="1500">
                <a:solidFill>
                  <a:srgbClr val="262626"/>
                </a:solidFill>
                <a:latin typeface="Arial"/>
              </a:rPr>
              <a:t>is how long the phone has already been on this cell: 0.874 on its own.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quantity the rule uses </a:t>
            </a:r>
            <a:r>
              <a:rPr sz="1500">
                <a:solidFill>
                  <a:srgbClr val="262626"/>
                </a:solidFill>
                <a:latin typeface="Arial"/>
              </a:rPr>
              <a:t>- the gap between serving and neighbour - scores only 0.566.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The reason: </a:t>
            </a:r>
            <a:r>
              <a:rPr sz="1500">
                <a:solidFill>
                  <a:srgbClr val="262626"/>
                </a:solidFill>
                <a:latin typeface="Arial"/>
              </a:rPr>
              <a:t>the gap says a handover is allowed. The dwell time says one is due.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It is also free: </a:t>
            </a:r>
            <a:r>
              <a:rPr sz="1500">
                <a:solidFill>
                  <a:srgbClr val="262626"/>
                </a:solidFill>
                <a:latin typeface="Arial"/>
              </a:rPr>
              <a:t>dwell time is a counter the phone already keeps.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is the finding an operator can act on, and it needs no new measurement to obtain.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never acted on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12" y="2212848"/>
            <a:ext cx="7645070" cy="1929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7,385 A3 reports </a:t>
            </a:r>
            <a:r>
              <a:rPr sz="1500">
                <a:solidFill>
                  <a:srgbClr val="262626"/>
                </a:solidFill>
                <a:latin typeface="Arial"/>
              </a:rPr>
              <a:t>were sent across the four campaigns.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62.9% of them </a:t>
            </a:r>
            <a:r>
              <a:rPr sz="1500">
                <a:solidFill>
                  <a:srgbClr val="262626"/>
                </a:solidFill>
                <a:latin typeface="Arial"/>
              </a:rPr>
              <a:t>are not followed by a handover within two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343400"/>
            <a:ext cx="5074920" cy="1197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And the rate rises with cell size: </a:t>
            </a:r>
            <a:r>
              <a:rPr sz="1500">
                <a:solidFill>
                  <a:srgbClr val="262626"/>
                </a:solidFill>
                <a:latin typeface="Arial"/>
              </a:rPr>
              <a:t>57% on the urban arterial, 63% in the dense core, 72% on the highway.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891313"/>
                </a:solidFill>
                <a:latin typeface="Arial"/>
              </a:rPr>
              <a:t>Reporting a condition </a:t>
            </a:r>
            <a:r>
              <a:rPr sz="1500">
                <a:solidFill>
                  <a:srgbClr val="262626"/>
                </a:solidFill>
                <a:latin typeface="Arial"/>
              </a:rPr>
              <a:t>is not the same as acting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Two qualifiers always travel with this number: which reports were counted, and over which window.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Where ping-pong actually comes from</a:t>
            </a:r>
          </a:p>
        </p:txBody>
      </p:sp>
      <p:pic>
        <p:nvPicPr>
          <p:cNvPr id="5" name="Picture 4" descr="fig24_pingpong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77462"/>
            <a:ext cx="6446520" cy="3044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Handovers that stay on the same carrier </a:t>
            </a:r>
            <a:r>
              <a:rPr sz="1450">
                <a:solidFill>
                  <a:srgbClr val="262626"/>
                </a:solidFill>
                <a:latin typeface="Arial"/>
              </a:rPr>
              <a:t>return at 31.0%; those that change carrier, at 6.5%.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One configuration carries it: </a:t>
            </a:r>
            <a:r>
              <a:rPr sz="1450">
                <a:solidFill>
                  <a:srgbClr val="262626"/>
                </a:solidFill>
                <a:latin typeface="Arial"/>
              </a:rPr>
              <a:t>a +1 dB offset with a 320 ms time-to-trigger, which covers 72% of all handovers.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It is not speed. </a:t>
            </a:r>
            <a:r>
              <a:rPr sz="1450">
                <a:solidFill>
                  <a:srgbClr val="262626"/>
                </a:solidFill>
                <a:latin typeface="Arial"/>
              </a:rPr>
              <a:t>The highway returns 31.1% - essentially the same as the urban rate.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891313"/>
                </a:solidFill>
                <a:latin typeface="Arial"/>
              </a:rPr>
              <a:t>The lever is that time-to-trigger, </a:t>
            </a:r>
            <a:r>
              <a:rPr sz="1450">
                <a:solidFill>
                  <a:srgbClr val="262626"/>
                </a:solidFill>
                <a:latin typeface="Arial"/>
              </a:rPr>
              <a:t>and it is a parameter an operator can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This is the one concrete configuration recommendation the thesis can make.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9 ·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did not help, and what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71" y="2258568"/>
            <a:ext cx="6209873" cy="3282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32369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Added in good faith, and measured: </a:t>
            </a:r>
            <a:r>
              <a:rPr sz="1350">
                <a:solidFill>
                  <a:srgbClr val="262626"/>
                </a:solidFill>
                <a:latin typeface="Arial"/>
              </a:rPr>
              <a:t>more neighbour data, explicit clustering features, a dedicated ping-pong model, and two domain-adaptation methods.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None of them helped. </a:t>
            </a:r>
            <a:r>
              <a:rPr sz="1350">
                <a:solidFill>
                  <a:srgbClr val="262626"/>
                </a:solidFill>
                <a:latin typeface="Arial"/>
              </a:rPr>
              <a:t>The dedicated ping-pong model came out at chance; domain adaptation made transfer worse.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What did move the result: </a:t>
            </a:r>
            <a:r>
              <a:rPr sz="1350">
                <a:solidFill>
                  <a:srgbClr val="262626"/>
                </a:solidFill>
                <a:latin typeface="Arial"/>
              </a:rPr>
              <a:t>the formulation, the configuration regime, and splitting the data by whole drive.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891313"/>
                </a:solidFill>
                <a:latin typeface="Arial"/>
              </a:rPr>
              <a:t>Reported rather than dropped, </a:t>
            </a:r>
            <a:r>
              <a:rPr sz="1350">
                <a:solidFill>
                  <a:srgbClr val="262626"/>
                </a:solidFill>
                <a:latin typeface="Arial"/>
              </a:rPr>
              <a:t>because a pattern across five independent attempts is itself a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Every negative here is a controlled comparison under the same protocol, not an absence of effort.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10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50008"/>
            <a:ext cx="104241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The next handover can be predicted about a second before the network's own rule can react,  </a:t>
            </a:r>
            <a:r>
              <a:rPr sz="1700">
                <a:solidFill>
                  <a:srgbClr val="262626"/>
                </a:solidFill>
                <a:latin typeface="Arial"/>
              </a:rPr>
              <a:t>using only what a handset already measures - AUROC 0.933, with calibrated probabilities and a guaranteed limit on missed handovers.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How the problem is formulated matters more than adding more data.  </a:t>
            </a:r>
            <a:r>
              <a:rPr sz="1700">
                <a:solidFill>
                  <a:srgbClr val="262626"/>
                </a:solidFill>
                <a:latin typeface="Arial"/>
              </a:rPr>
              <a:t>One model of the next second beats five separate classifiers, and gives consistent answers for free.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How a model is tested is part of the contribution.  </a:t>
            </a:r>
            <a:r>
              <a:rPr sz="1700">
                <a:solidFill>
                  <a:srgbClr val="262626"/>
                </a:solidFill>
                <a:latin typeface="Arial"/>
              </a:rPr>
              <a:t>A careless split inflates a deep model by 74% and a linear one by 4%, which changes the ranking itself.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It generalises to an unseen road,  </a:t>
            </a:r>
            <a:r>
              <a:rPr sz="1700">
                <a:solidFill>
                  <a:srgbClr val="262626"/>
                </a:solidFill>
                <a:latin typeface="Arial"/>
              </a:rPr>
              <a:t>scoring 0.927 on a highway corridor driven after every modelling decision was frozen.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Stated plainly: this is an offline predictor with a measured guarantee - not yet a deployed handover controller.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11 · FUTURE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Future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Collect more routes and more operators.  </a:t>
            </a:r>
            <a:r>
              <a:rPr sz="1800">
                <a:solidFill>
                  <a:srgbClr val="262626"/>
                </a:solidFill>
                <a:latin typeface="Arial"/>
              </a:rPr>
              <a:t>Four days on one network is enough for a careful study, not enough to claim the result holds everywhere.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Measure the actual benefit.  </a:t>
            </a:r>
            <a:r>
              <a:rPr sz="1800">
                <a:solidFill>
                  <a:srgbClr val="262626"/>
                </a:solidFill>
                <a:latin typeface="Arial"/>
              </a:rPr>
              <a:t>Link the warning to a measured throughput or interruption improvement, rather than the counting estimate reported here.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Test one configuration change with the operator.  </a:t>
            </a:r>
            <a:r>
              <a:rPr sz="1800">
                <a:solidFill>
                  <a:srgbClr val="262626"/>
                </a:solidFill>
                <a:latin typeface="Arial"/>
              </a:rPr>
              <a:t>A longer time-to-trigger on the layer where ping-pong concentrates is a single, low-cost experiment.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800">
                <a:solidFill>
                  <a:srgbClr val="262626"/>
                </a:solidFill>
                <a:latin typeface="Arial"/>
              </a:rPr>
              <a:t>Only two of the 22 papers reviewed release code and only one releases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solidFill>
            <a:srgbClr val="F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91313"/>
                </a:solidFill>
                <a:latin typeface="Arial"/>
              </a:rPr>
              <a:t>The next milestone is a field trial: the same warning, measured against a real network outcome.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0876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discussion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3936</Words>
  <Application>Microsoft Office PowerPoint</Application>
  <PresentationFormat>Widescreen</PresentationFormat>
  <Paragraphs>329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Abeer</cp:lastModifiedBy>
  <cp:revision>75</cp:revision>
  <dcterms:created xsi:type="dcterms:W3CDTF">2020-11-20T22:35:19Z</dcterms:created>
  <dcterms:modified xsi:type="dcterms:W3CDTF">2026-09-16T02:39:04Z</dcterms:modified>
</cp:coreProperties>
</file>