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5"/>
    <p:sldId id="259" r:id="rId4"/>
    <p:sldId id="260" r:id="rId3"/>
    <p:sldId id="261" r:id="rId2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9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5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0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3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1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489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41248"/>
            <a:ext cx="6858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891313"/>
                </a:solidFill>
                <a:latin typeface="Arial"/>
              </a:rPr>
              <a:t>Uncertainty-Aware Multi-Horizon Handover Prediction
from Drive-Test Signalling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31136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2626"/>
                </a:solidFill>
                <a:latin typeface="Arial"/>
              </a:rPr>
              <a:t>How far ahead can the next LTE handover be seen, and with what guarantee?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863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Abeer Saadman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Student ID [ID]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Arial"/>
              </a:rPr>
              <a:t>Supervisor: [Supervisor Name, Title]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Department of Electrical and Electronic Engineering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Islamic University of Technology, Gazipur, Bangladesh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3075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B.Sc. Thesis Defence   |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Defence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01  Why this problem?  </a:t>
            </a:r>
            <a:r>
              <a:rPr sz="1900">
                <a:solidFill>
                  <a:srgbClr val="262626"/>
                </a:solidFill>
                <a:latin typeface="Arial"/>
              </a:rPr>
              <a:t>What the reactive rule costs, what the literature does and does not do, and the five objectives that follow.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02  What was developed?  </a:t>
            </a:r>
            <a:r>
              <a:rPr sz="1900">
                <a:solidFill>
                  <a:srgbClr val="262626"/>
                </a:solidFill>
                <a:latin typeface="Arial"/>
              </a:rPr>
              <a:t>Signalling-grounded labels, a hazard formulation, 107 features, and an evaluation protocol built to resist leakage.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03  What does the evidence show?  </a:t>
            </a:r>
            <a:r>
              <a:rPr sz="1900">
                <a:solidFill>
                  <a:srgbClr val="262626"/>
                </a:solidFill>
                <a:latin typeface="Arial"/>
              </a:rPr>
              <a:t>Benchmark, calibration, a certified warning threshold, generalisation to an unseen corridor, and why any of it works.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04  What has been achieved?  </a:t>
            </a:r>
            <a:r>
              <a:rPr sz="1900">
                <a:solidFill>
                  <a:srgbClr val="262626"/>
                </a:solidFill>
                <a:latin typeface="Arial"/>
              </a:rPr>
              <a:t>Objectives closed against their evidence, what is novel, what is refuted, and what this work does not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 prediction is useful only if its probability, its lead time and its false-alarm cost are all stated.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LTE hands over with a rule that acts only after the radio has already changed</a:t>
            </a:r>
          </a:p>
        </p:txBody>
      </p:sp>
      <p:pic>
        <p:nvPicPr>
          <p:cNvPr id="5" name="Picture 4" descr="fig01_a3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143" y="2258568"/>
            <a:ext cx="5232728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Event A3 is reactive. </a:t>
            </a:r>
            <a:r>
              <a:rPr sz="1750">
                <a:solidFill>
                  <a:srgbClr val="262626"/>
                </a:solidFill>
                <a:latin typeface="Arial"/>
              </a:rPr>
              <a:t>It fires once a neighbour is already better by an offset, and stays better through a time-to-trigger.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Everything downstream follows: </a:t>
            </a:r>
            <a:r>
              <a:rPr sz="1750">
                <a:solidFill>
                  <a:srgbClr val="262626"/>
                </a:solidFill>
                <a:latin typeface="Arial"/>
              </a:rPr>
              <a:t>the interruption, the throughput dip, the ping-pong back.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One or two seconds of warning </a:t>
            </a:r>
            <a:r>
              <a:rPr sz="1750">
                <a:solidFill>
                  <a:srgbClr val="262626"/>
                </a:solidFill>
                <a:latin typeface="Arial"/>
              </a:rPr>
              <a:t>is enough to prepare, pre-empt or suppress.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 rule that fires at the handover is doing its job. It is simply not a predictor.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Entering condition and TTT per 3GPP TS 36.331. Curves illustrative; parameters are the deployed ones (+1 dB offset, 1 dB hysteresis, 320 ms TTT).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cost is measurable, and the predictor does not exist</a:t>
            </a:r>
          </a:p>
        </p:txBody>
      </p:sp>
      <p:pic>
        <p:nvPicPr>
          <p:cNvPr id="5" name="Picture 4" descr="fig27_neces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9" y="2258568"/>
            <a:ext cx="6049036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938 handovers in under three hours, </a:t>
            </a:r>
            <a:r>
              <a:rPr sz="1800">
                <a:solidFill>
                  <a:srgbClr val="262626"/>
                </a:solidFill>
                <a:latin typeface="Arial"/>
              </a:rPr>
              <a:t>a median 3.5 s apart.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quarter go straight back, </a:t>
            </a:r>
            <a:r>
              <a:rPr sz="1800">
                <a:solidFill>
                  <a:srgbClr val="262626"/>
                </a:solidFill>
                <a:latin typeface="Arial"/>
              </a:rPr>
              <a:t>and 341 times the link dropped.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Three in five A3 reports </a:t>
            </a:r>
            <a:r>
              <a:rPr sz="1800">
                <a:solidFill>
                  <a:srgbClr val="262626"/>
                </a:solidFill>
                <a:latin typeface="Arial"/>
              </a:rPr>
              <a:t>are declined - signalling that bought nothing.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And no one has built the predictor </a:t>
            </a:r>
            <a:r>
              <a:rPr sz="1800">
                <a:solidFill>
                  <a:srgbClr val="262626"/>
                </a:solidFill>
                <a:latin typeface="Arial"/>
              </a:rPr>
              <a:t>on this ground truth.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figure on the left is a count from this campaign, not a model output or an estimate.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Left: counted from the four captures in this campaign. Right: the 22-paper protocol audit.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literatures exist, and neither does what a deployable predictor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4983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Measurement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Deng et al., IMC 2018: </a:t>
            </a:r>
            <a:r>
              <a:rPr sz="1700">
                <a:solidFill>
                  <a:srgbClr val="262626"/>
                </a:solidFill>
                <a:latin typeface="Arial"/>
              </a:rPr>
              <a:t>recover operator mobility configurations from signalling.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Ghoshal et al., 2025: </a:t>
            </a:r>
            <a:r>
              <a:rPr sz="1700">
                <a:solidFill>
                  <a:srgbClr val="262626"/>
                </a:solidFill>
                <a:latin typeface="Arial"/>
              </a:rPr>
              <a:t>handover configurations across three US operators, 48k handovers.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measurement-grade ground truth.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they build no predictor.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304288"/>
            <a:ext cx="50749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Prediction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108 references screened over three passes; </a:t>
            </a:r>
            <a:r>
              <a:rPr sz="1700">
                <a:solidFill>
                  <a:srgbClr val="262626"/>
                </a:solidFill>
                <a:latin typeface="Arial"/>
              </a:rPr>
              <a:t>22 predict handover, radio-link failure or next-cell occupancy.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Mostly simulation, </a:t>
            </a:r>
            <a:r>
              <a:rPr sz="1700">
                <a:solidFill>
                  <a:srgbClr val="262626"/>
                </a:solidFill>
                <a:latin typeface="Arial"/>
              </a:rPr>
              <a:t>mostly without grouped splits.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models and architectures.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protocol, calibration, operating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gap is structural: measurement-grade truth on one side, an ML-grade protocol on the 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Deng et al. (2018) IMC; Ghoshal et al. (2025) arXiv:2511.03116. Screening protocol and full audit in the 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Of 22 comparable papers, none splits by drive and none reports calibration</a:t>
            </a:r>
          </a:p>
        </p:txBody>
      </p:sp>
      <p:pic>
        <p:nvPicPr>
          <p:cNvPr id="5" name="Picture 4" descr="fig06_protocol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300" y="2258568"/>
            <a:ext cx="5356414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The audit is on protocol, </a:t>
            </a:r>
            <a:r>
              <a:rPr sz="1400">
                <a:solidFill>
                  <a:srgbClr val="262626"/>
                </a:solidFill>
                <a:latin typeface="Arial"/>
              </a:rPr>
              <a:t>not on headline numbers.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The survey was widened twice. </a:t>
            </a:r>
            <a:r>
              <a:rPr sz="1400">
                <a:solidFill>
                  <a:srgbClr val="262626"/>
                </a:solidFill>
                <a:latin typeface="Arial"/>
              </a:rPr>
              <a:t>These rows did not move.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Naming the exceptions: </a:t>
            </a:r>
            <a:r>
              <a:rPr sz="1400">
                <a:solidFill>
                  <a:srgbClr val="262626"/>
                </a:solidFill>
                <a:latin typeface="Arial"/>
              </a:rPr>
              <a:t>five split on a unit coarser than a row - by zone, device, time, travel day, deployment event. None is a per-timestep task on measured radio.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This is the gap: </a:t>
            </a:r>
            <a:r>
              <a:rPr sz="1400">
                <a:solidFill>
                  <a:srgbClr val="262626"/>
                </a:solidFill>
                <a:latin typeface="Arial"/>
              </a:rPr>
              <a:t>measurement-grade truth on one side, an ML-grade protocol on the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audit is on protocol, never on anyone's headline number - and five papers do split coarser than a 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Screened set of 108 references; 22 are models predicting handover, RLF or next-cell occupancy. Counting rules stated in the thesis.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Foundations: what is borrowed, and what for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120"/>
                <a:gridCol w="3154680"/>
                <a:gridCol w="41148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Methodological strand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The established idea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Role in this work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Discrete-time survival
Wiegrebe et al., 2024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conditional event hazards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coherent cumulative probabilities from a single fit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Conformal risk control
Angelopoulos et al., 2024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distribution-free expected-risk control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a warning threshold certified at a target miss rate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Wireless conformal prediction
Cohen 2022; Simeone 2025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uncertainty inside wireless systems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shows the open question is the exchangeable unit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Self-exciting point process
Hawkes 1971; Ogata 1988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event clustering, and residual testing of the fit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measures handover burstiness, with the kernel tested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Unsupervised adaptation
Sun and Saenko, 2016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feature alignment without target labels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tried as a zero-cost transfer fix; reported as a negative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Signalling measurement
Deng 2018; Ghoshal 2025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configurations recovered from decoded RRC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ground truth, and a deployed rule that is measured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contribution is the pairing and the protocol, not new survival or conformal theory.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source is cited again in the section that uses it, not only here. Appendix G maps the four literatures that nearly meet at this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question this thesis answers, stated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331720"/>
            <a:ext cx="9418320" cy="1234440"/>
          </a:xfrm>
          <a:prstGeom prst="roundRect">
            <a:avLst/>
          </a:prstGeom>
          <a:solidFill>
            <a:srgbClr val="F7F0F0"/>
          </a:solidFill>
          <a:ln w="19050">
            <a:solidFill>
              <a:srgbClr val="891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Given what a phone can observe right now, how well can the next handover be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predicted, how far ahead, and with what guarantee?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424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well?  </a:t>
            </a:r>
            <a:r>
              <a:rPr sz="2000">
                <a:solidFill>
                  <a:srgbClr val="262626"/>
                </a:solidFill>
                <a:latin typeface="Arial"/>
              </a:rPr>
              <a:t>Against a prevalence-aware floor, never accuracy on an imbalanced task.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far ahead?  </a:t>
            </a:r>
            <a:r>
              <a:rPr sz="2000">
                <a:solidFill>
                  <a:srgbClr val="262626"/>
                </a:solidFill>
                <a:latin typeface="Arial"/>
              </a:rPr>
              <a:t>0.5, 1, 2, 3 and 5 seconds, with the horizons kept mutually coherent.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With what guarantee?  </a:t>
            </a:r>
            <a:r>
              <a:rPr sz="2000">
                <a:solidFill>
                  <a:srgbClr val="262626"/>
                </a:solidFill>
                <a:latin typeface="Arial"/>
              </a:rPr>
              <a:t>A distribution-free bound on missed handovers, per drive.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On what evidence?  </a:t>
            </a:r>
            <a:r>
              <a:rPr sz="2000">
                <a:solidFill>
                  <a:srgbClr val="262626"/>
                </a:solidFill>
                <a:latin typeface="Arial"/>
              </a:rPr>
              <a:t>Real drive-test data with handover truth from decoded RRC signalling.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Each clause of the question names a standard this deck is held to for the next sixteen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Five objectives, and where each one is answered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O1  Predict the next handover at five horizons </a:t>
            </a:r>
            <a:r>
              <a:rPr sz="1700">
                <a:solidFill>
                  <a:srgbClr val="262626"/>
                </a:solidFill>
                <a:latin typeface="Arial"/>
              </a:rPr>
              <a:t>from what a phone can observe at the time  -  slides 14 and 19.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O2  Establish a benchmark a reviewer would accept: </a:t>
            </a:r>
            <a:r>
              <a:rPr sz="1700">
                <a:solidFill>
                  <a:srgbClr val="262626"/>
                </a:solidFill>
                <a:latin typeface="Arial"/>
              </a:rPr>
              <a:t>seven learners grouped by drive, with the cost of getting the split wrong measured  -  slides 18, 22, 23.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O3  Make the probabilities usable, not merely well ranked: </a:t>
            </a:r>
            <a:r>
              <a:rPr sz="1700">
                <a:solidFill>
                  <a:srgbClr val="262626"/>
                </a:solidFill>
                <a:latin typeface="Arial"/>
              </a:rPr>
              <a:t>coherent across horizons, calibrated, and bounded per drive  -  slides 16, 20, 24, 25.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O4  Test generalisation beyond the training capture, </a:t>
            </a:r>
            <a:r>
              <a:rPr sz="1700">
                <a:solidFill>
                  <a:srgbClr val="262626"/>
                </a:solidFill>
                <a:latin typeface="Arial"/>
              </a:rPr>
              <a:t>by holding out a whole corridor and by scoring on an independent dataset  -  slides 26 and 27.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O5  Explain the mechanism rather than only reporting accuracy: </a:t>
            </a:r>
            <a:r>
              <a:rPr sz="1700">
                <a:solidFill>
                  <a:srgbClr val="262626"/>
                </a:solidFill>
                <a:latin typeface="Arial"/>
              </a:rPr>
              <a:t>what predicts, what the network actually does with a report, and where ping-pong comes from  -  slides 29 to 33.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Each objective is closed on slide 38, with the evidence delivered and the boundary of the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The objectives were fixed before the fourth capture was driven, which is what makes the leave-one-capture-out test on slide 26 meaningful.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flat parse of the signalling misattributes, and does it silently</a:t>
            </a:r>
          </a:p>
        </p:txBody>
      </p:sp>
      <p:pic>
        <p:nvPicPr>
          <p:cNvPr id="5" name="Picture 4" descr="m02_sign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28" y="2212848"/>
            <a:ext cx="8011438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symptom that gave it away: </a:t>
            </a:r>
            <a:r>
              <a:rPr sz="1500">
                <a:solidFill>
                  <a:srgbClr val="262626"/>
                </a:solidFill>
                <a:latin typeface="Arial"/>
              </a:rPr>
              <a:t>99.4% of reports resolved to A3, which is impossible when 43% of reports carry no neighbour.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Found by comparison, not by inspection </a:t>
            </a:r>
            <a:r>
              <a:rPr sz="1500">
                <a:solidFill>
                  <a:srgbClr val="262626"/>
                </a:solidFill>
                <a:latin typeface="Arial"/>
              </a:rPr>
              <a:t>- checking our extraction against a published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It changed four claims, </a:t>
            </a:r>
            <a:r>
              <a:rPr sz="1500">
                <a:solidFill>
                  <a:srgbClr val="262626"/>
                </a:solidFill>
                <a:latin typeface="Arial"/>
              </a:rPr>
              <a:t>two of them ours. The deployed offsets are negative, not the +3 dB assumed in published work on this network.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Found by comparison with a published method, not by inspection. It changed four claims, two of them mine.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RRC measConfig is incremental: AddMod inserts or replaces. The timeline reconstructs the state in force at each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57 drives, two corridors, 938 signalling-confirmed handovers</a:t>
            </a:r>
          </a:p>
        </p:txBody>
      </p:sp>
      <p:pic>
        <p:nvPicPr>
          <p:cNvPr id="5" name="Picture 4" descr="fig03_map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51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Four campaigns, two regimes. </a:t>
            </a:r>
            <a:r>
              <a:rPr sz="1900">
                <a:solidFill>
                  <a:srgbClr val="262626"/>
                </a:solidFill>
                <a:latin typeface="Arial"/>
              </a:rPr>
              <a:t>Three urban corridors, and one highway run to Gazipur at 49.5 km/h mean.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The drive is the unit of everything: </a:t>
            </a:r>
            <a:r>
              <a:rPr sz="1900">
                <a:solidFill>
                  <a:srgbClr val="262626"/>
                </a:solidFill>
                <a:latin typeface="Arial"/>
              </a:rPr>
              <a:t>segmentation, grouping, bootstrap, and the risk-control guarantee.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Handovers are dense: </a:t>
            </a:r>
            <a:r>
              <a:rPr sz="1900">
                <a:solidFill>
                  <a:srgbClr val="262626"/>
                </a:solidFill>
                <a:latin typeface="Arial"/>
              </a:rPr>
              <a:t>a median of 3.5 s apart - half are followed by another within 5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GPS from the XCAL export; handover positions joined to the 1 Hz grid by nearest timestamp.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campaign in numbers, capture by capture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27980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80360"/>
                <a:gridCol w="1527048"/>
                <a:gridCol w="1527048"/>
                <a:gridCol w="1527048"/>
                <a:gridCol w="1527048"/>
                <a:gridCol w="152704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10 Sept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12 Sept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13 Sept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15 Sept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corridor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urban arterial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urban loop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dense urban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HIGHWAY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2 regimes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drives (after quality control)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samples on the 1 Hz grid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2,700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1,440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3,600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2,520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10,260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46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24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60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43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2.9 h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signalling-confirmed handovers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938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measurement-report instants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4,688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3,702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4,098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3,237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15,725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RRC re-establishments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A3 reports declined within 2 s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57.2%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60.1%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63.3%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71.9%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62.9%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5157216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Arial"/>
              </a:rPr>
              <a:t>957 handovers are in the raw logs; the 938 inside quality-controlled drives are what the models see.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A3 configuration is identical across all four captures, which is what makes the corridor holdout a geography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Quality control is 60 s and 60 samples per drive. A3 offsets (-15, -10, -6.5, +1, +5 dB) and TTT values (160-1024 ms) are identical across all four captures. 152 feature columns built, 107 used.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cluster where the link is weak, and a quarter are ping-pongs</a:t>
            </a:r>
          </a:p>
        </p:txBody>
      </p:sp>
      <p:pic>
        <p:nvPicPr>
          <p:cNvPr id="5" name="Picture 4" descr="fig04_map_rs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51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Ping-pong is not rare: </a:t>
            </a:r>
            <a:r>
              <a:rPr sz="1900">
                <a:solidFill>
                  <a:srgbClr val="262626"/>
                </a:solidFill>
                <a:latin typeface="Arial"/>
              </a:rPr>
              <a:t>24.5% of handovers go straight back to the cell just left.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It is not uniform either: </a:t>
            </a:r>
            <a:r>
              <a:rPr sz="1900">
                <a:solidFill>
                  <a:srgbClr val="262626"/>
                </a:solidFill>
                <a:latin typeface="Arial"/>
              </a:rPr>
              <a:t>the clusters sit at specific junctions, not along the whole route.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This is what motivates </a:t>
            </a:r>
            <a:r>
              <a:rPr sz="1900">
                <a:solidFill>
                  <a:srgbClr val="262626"/>
                </a:solidFill>
                <a:latin typeface="Arial"/>
              </a:rPr>
              <a:t>the self-exciting point-process analysis later in the 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Ping-pong defined at the literature-standard 15 s return window with a per-handover denominator.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horizon is a rare-event problem, so every metric is read against its floor</a:t>
            </a:r>
          </a:p>
        </p:txBody>
      </p:sp>
      <p:pic>
        <p:nvPicPr>
          <p:cNvPr id="5" name="Picture 4" descr="fig05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34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10,260 samples </a:t>
            </a:r>
            <a:r>
              <a:rPr sz="1750">
                <a:solidFill>
                  <a:srgbClr val="262626"/>
                </a:solidFill>
                <a:latin typeface="Arial"/>
              </a:rPr>
              <a:t>on a uniform 1 Hz grid across 57 drives and four captures.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Prevalence moves </a:t>
            </a:r>
            <a:r>
              <a:rPr sz="1750">
                <a:solidFill>
                  <a:srgbClr val="262626"/>
                </a:solidFill>
                <a:latin typeface="Arial"/>
              </a:rPr>
              <a:t>from 3.7% at 0.5 s to 26.0% at 5 s - accuracy would be meaningless.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The 0.5 s horizon is legitimate: </a:t>
            </a:r>
            <a:r>
              <a:rPr sz="1750">
                <a:solidFill>
                  <a:srgbClr val="262626"/>
                </a:solidFill>
                <a:latin typeface="Arial"/>
              </a:rPr>
              <a:t>the event clock is millisecond-precise even though the sample clock is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1 Hz grid bounds event detection at 90.5%. It does not bound horizon resolution.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Label prevalence computed on labelable samples only; drives shorter than 60 s are rejected by quality control.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framework end to end, in five stages</a:t>
            </a:r>
          </a:p>
        </p:txBody>
      </p:sp>
      <p:pic>
        <p:nvPicPr>
          <p:cNvPr id="5" name="Picture 4" descr="m14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405" y="2212848"/>
            <a:ext cx="8419284" cy="923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337560"/>
            <a:ext cx="5074920" cy="22037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02 is what makes the rest possible. </a:t>
            </a:r>
            <a:r>
              <a:rPr sz="1500">
                <a:solidFill>
                  <a:srgbClr val="262626"/>
                </a:solidFill>
                <a:latin typeface="Arial"/>
              </a:rPr>
              <a:t>Handover truth is a decoded RRC command with a millisecond timestamp, not a vendor counter.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04 is the methodological claim: </a:t>
            </a:r>
            <a:r>
              <a:rPr sz="1500">
                <a:solidFill>
                  <a:srgbClr val="262626"/>
                </a:solidFill>
                <a:latin typeface="Arial"/>
              </a:rPr>
              <a:t>one hazard fit rather than five classifiers, so the horizons cannot contradict each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337560"/>
            <a:ext cx="5074920" cy="22037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05 is what the comparable literature omits: </a:t>
            </a:r>
            <a:r>
              <a:rPr sz="1500">
                <a:solidFill>
                  <a:srgbClr val="262626"/>
                </a:solidFill>
                <a:latin typeface="Arial"/>
              </a:rPr>
              <a:t>a certified threshold, and a warning cost an operator would be charged for.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Executed by 18 pipeline stages with 17 passing tests. </a:t>
            </a:r>
            <a:r>
              <a:rPr sz="1500">
                <a:solidFill>
                  <a:srgbClr val="262626"/>
                </a:solidFill>
                <a:latin typeface="Arial"/>
              </a:rPr>
              <a:t>A rebuild from the raw captures returns 10,260 samples and 938 handovers exactly.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leakage guards are structural rather than conventional: grouping by drive is enforced in the split constructor.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Appendix F shows the stage graph. Every number in the thesis is written by a stage, not typed by hand.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 prediction is a survival problem, not five binary tasks</a:t>
            </a:r>
          </a:p>
        </p:txBody>
      </p:sp>
      <p:pic>
        <p:nvPicPr>
          <p:cNvPr id="5" name="Picture 4" descr="m04_ha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452" y="2212848"/>
            <a:ext cx="7601191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Five independent heads can contradict each other. </a:t>
            </a:r>
            <a:r>
              <a:rPr sz="1500">
                <a:solidFill>
                  <a:srgbClr val="262626"/>
                </a:solidFill>
                <a:latin typeface="Arial"/>
              </a:rPr>
              <a:t>A 1 s alarm above a 2 s alarm is impossible, yet 43.6% of rows did exactly that.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One hazard fit fixes it by identity, </a:t>
            </a:r>
            <a:r>
              <a:rPr sz="1500">
                <a:solidFill>
                  <a:srgbClr val="262626"/>
                </a:solidFill>
                <a:latin typeface="Arial"/>
              </a:rPr>
              <a:t>not by post-processing - and the property holds for any learner.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One consequence worth stating: </a:t>
            </a:r>
            <a:r>
              <a:rPr sz="1500">
                <a:solidFill>
                  <a:srgbClr val="262626"/>
                </a:solidFill>
                <a:latin typeface="Arial"/>
              </a:rPr>
              <a:t>class reweighting is forbidden here, because it compounds through the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Coherence here is a property of the identity, so it holds for any learner dropped into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Discrete-time survival with right-censoring at the end of each drive.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152 columns built, 107 used, four blocks, two guards</a:t>
            </a:r>
          </a:p>
        </p:txBody>
      </p:sp>
      <p:pic>
        <p:nvPicPr>
          <p:cNvPr id="5" name="Picture 4" descr="m13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621" y="2212848"/>
            <a:ext cx="6020852" cy="2157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572000"/>
            <a:ext cx="5074920" cy="969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smallest block is the strongest: </a:t>
            </a:r>
            <a:r>
              <a:rPr sz="1500">
                <a:solidFill>
                  <a:srgbClr val="262626"/>
                </a:solidFill>
                <a:latin typeface="Arial"/>
              </a:rPr>
              <a:t>seven history features, and dwell time alone reaches AUROC 0.874.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Guard one: </a:t>
            </a:r>
            <a:r>
              <a:rPr sz="1500">
                <a:solidFill>
                  <a:srgbClr val="262626"/>
                </a:solidFill>
                <a:latin typeface="Arial"/>
              </a:rPr>
              <a:t>every window is backward-looking, closed at t, and none crosses a drive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572000"/>
            <a:ext cx="5074920" cy="969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Guard two: </a:t>
            </a:r>
            <a:r>
              <a:rPr sz="1500">
                <a:solidFill>
                  <a:srgbClr val="262626"/>
                </a:solidFill>
                <a:latin typeface="Arial"/>
              </a:rPr>
              <a:t>a report precedes its handover command by 50-200 ms - inside one sample - so report counts stop one sample early. Seven unit tests pin that boundary.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Fitted per fold, on training rows only: </a:t>
            </a:r>
            <a:r>
              <a:rPr sz="1500">
                <a:solidFill>
                  <a:srgbClr val="262626"/>
                </a:solidFill>
                <a:latin typeface="Arial"/>
              </a:rPr>
              <a:t>the degenerate filter and the robust scaler.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smallest block is the strongest: seven history features, and dwell time alone reaches AUROC 0.874.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drive is tested exactly once, and nothing from a test fold is ever fitted</a:t>
            </a:r>
          </a:p>
        </p:txBody>
      </p:sp>
      <p:pic>
        <p:nvPicPr>
          <p:cNvPr id="5" name="Picture 4" descr="m03_protoc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764" y="2212848"/>
            <a:ext cx="6250566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Why not one 15% split? </a:t>
            </a:r>
            <a:r>
              <a:rPr sz="1500">
                <a:solidFill>
                  <a:srgbClr val="262626"/>
                </a:solidFill>
                <a:latin typeface="Arial"/>
              </a:rPr>
              <a:t>57 drives leave 8 in test, and a bootstrap over 8 groups is wide for the wrong reason.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Paired testing needs power: </a:t>
            </a:r>
            <a:r>
              <a:rPr sz="1500">
                <a:solidFill>
                  <a:srgbClr val="262626"/>
                </a:solidFill>
                <a:latin typeface="Arial"/>
              </a:rPr>
              <a:t>with 4 folds a two-sided Wilcoxon cannot return below p = 0.125 whatever the data says.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So the whole rotation repeats </a:t>
            </a:r>
            <a:r>
              <a:rPr sz="1500">
                <a:solidFill>
                  <a:srgbClr val="262626"/>
                </a:solidFill>
                <a:latin typeface="Arial"/>
              </a:rPr>
              <a:t>over 5 seeds, giving 20 paired observations and a bootstrap interval on every delta.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Five seeds exist for test power: with four folds a Wilcoxon cannot return a p below 0.125.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Gradient boosting reaches AUROC 0.933 at 1 s - twelve times the prevalence floor</a:t>
            </a:r>
          </a:p>
        </p:txBody>
      </p:sp>
      <p:pic>
        <p:nvPicPr>
          <p:cNvPr id="5" name="Picture 4" descr="fig10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AUPRC 0.784 at 1 s, </a:t>
            </a:r>
            <a:r>
              <a:rPr sz="1550">
                <a:solidFill>
                  <a:srgbClr val="262626"/>
                </a:solidFill>
                <a:latin typeface="Arial"/>
              </a:rPr>
              <a:t>11.7x the 6.7% prevalence floor, with an ECE of 0.024.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A linear model is second. </a:t>
            </a:r>
            <a:r>
              <a:rPr sz="1550">
                <a:solidFill>
                  <a:srgbClr val="262626"/>
                </a:solidFill>
                <a:latin typeface="Arial"/>
              </a:rPr>
              <a:t>On 57 drives the sequence models have nothing extra to learn.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The deployed rule </a:t>
            </a:r>
            <a:r>
              <a:rPr sz="1550">
                <a:solidFill>
                  <a:srgbClr val="262626"/>
                </a:solidFill>
                <a:latin typeface="Arial"/>
              </a:rPr>
              <a:t>reaches AUROC 0.653 and detects 5.5% of handovers one second ahead.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Event level: </a:t>
            </a:r>
            <a:r>
              <a:rPr sz="1550">
                <a:solidFill>
                  <a:srgbClr val="262626"/>
                </a:solidFill>
                <a:latin typeface="Arial"/>
              </a:rPr>
              <a:t>44.7% of handovers detected at 1 s, 65.1% at 5 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number is read against its own floor. Accuracy would be meaningless at 6.7% prevalence.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Out-of-fold over 57 drives from four captures under the grouped rotation. Figure generated in MATLAB from the pipeline tables.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hazard model earns coherence; per-horizon calibration buys ECE and destroys it</a:t>
            </a:r>
          </a:p>
        </p:txBody>
      </p:sp>
      <p:pic>
        <p:nvPicPr>
          <p:cNvPr id="5" name="Picture 4" descr="fig13_hazar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34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Calibration: </a:t>
            </a:r>
            <a:r>
              <a:rPr sz="1450">
                <a:solidFill>
                  <a:srgbClr val="262626"/>
                </a:solidFill>
                <a:latin typeface="Arial"/>
              </a:rPr>
              <a:t>better than an uncalibrated baseline, ECE -0.006 to -0.030, p &lt; 0.0001 over 20 paired folds.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But a calibrated baseline wins on ECE </a:t>
            </a:r>
            <a:r>
              <a:rPr sz="1450">
                <a:solidFill>
                  <a:srgbClr val="262626"/>
                </a:solidFill>
                <a:latin typeface="Arial"/>
              </a:rPr>
              <a:t>- at the cost of a held-out split and 2-5 AUPRC points.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Isotonic alone makes coherence worse: </a:t>
            </a:r>
            <a:r>
              <a:rPr sz="1450">
                <a:solidFill>
                  <a:srgbClr val="262626"/>
                </a:solidFill>
                <a:latin typeface="Arial"/>
              </a:rPr>
              <a:t>maximum violation grows from 0.495 to 0.596.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The claim, narrowed: </a:t>
            </a:r>
            <a:r>
              <a:rPr sz="1450">
                <a:solidFill>
                  <a:srgbClr val="262626"/>
                </a:solidFill>
                <a:latin typeface="Arial"/>
              </a:rPr>
              <a:t>calibration, coherence and ranking together, from one 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narrowed claim, and the defensible one: calibration, coherence and ranking together, from one 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Six arms on identical folds, 5 seeds x 4 folds = 20 paired observations.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Before claiming a winner, every model was given the same tuning budget</a:t>
            </a:r>
          </a:p>
        </p:txBody>
      </p:sp>
      <p:pic>
        <p:nvPicPr>
          <p:cNvPr id="5" name="Picture 4" descr="m06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09" y="2212848"/>
            <a:ext cx="5951677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objection is standard </a:t>
            </a:r>
            <a:r>
              <a:rPr sz="1600">
                <a:solidFill>
                  <a:srgbClr val="262626"/>
                </a:solidFill>
                <a:latin typeface="Arial"/>
              </a:rPr>
              <a:t>and it deserved a measurement rather than an argument: the deep baselines are under-tuned.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Equal means equal: </a:t>
            </a:r>
            <a:r>
              <a:rPr sz="1600">
                <a:solidFill>
                  <a:srgbClr val="262626"/>
                </a:solidFill>
                <a:latin typeface="Arial"/>
              </a:rPr>
              <a:t>the same number of trials, the same objective, the same folds, the same seed.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default arm is re-run here too, </a:t>
            </a:r>
            <a:r>
              <a:rPr sz="1600">
                <a:solidFill>
                  <a:srgbClr val="262626"/>
                </a:solidFill>
                <a:latin typeface="Arial"/>
              </a:rPr>
              <a:t>so the two arms differ by the parameters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Objective is mean inner AUPRC at the 2 s horizon - the middle horizon, so nothing is tuned to an extreme.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deep baselines really were under-tuned - and it does not change the answer</a:t>
            </a:r>
          </a:p>
        </p:txBody>
      </p:sp>
      <p:pic>
        <p:nvPicPr>
          <p:cNvPr id="5" name="Picture 4" descr="fig11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They gain a lot: </a:t>
            </a:r>
            <a:r>
              <a:rPr sz="1450">
                <a:solidFill>
                  <a:srgbClr val="262626"/>
                </a:solidFill>
                <a:latin typeface="Arial"/>
              </a:rPr>
              <a:t>Transformer +0.109 AUPRC, TCN +0.102, both far outside their confidence intervals.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They still lose: </a:t>
            </a:r>
            <a:r>
              <a:rPr sz="1450">
                <a:solidFill>
                  <a:srgbClr val="262626"/>
                </a:solidFill>
                <a:latin typeface="Arial"/>
              </a:rPr>
              <a:t>no tuned sequence model reaches an untuned logistic regression.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Tuning LightGBM costs 0.021, </a:t>
            </a:r>
            <a:r>
              <a:rPr sz="1450">
                <a:solidFill>
                  <a:srgbClr val="262626"/>
                </a:solidFill>
                <a:latin typeface="Arial"/>
              </a:rPr>
              <a:t>so its margin is not an artefact of favourable defaults.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One correction falls out: </a:t>
            </a:r>
            <a:r>
              <a:rPr sz="1450">
                <a:solidFill>
                  <a:srgbClr val="262626"/>
                </a:solidFill>
                <a:latin typeface="Arial"/>
              </a:rPr>
              <a:t>logistic regression's ECE was a class-weight artefact.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same search that lifts every competitor cannot lift the winner.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Paired deltas with a drive-level bootstrap interval, 1 s horizon.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Leakage is architecture-dependent: a GRU inflates by 74%, logistic regression by 4%</a:t>
            </a:r>
          </a:p>
        </p:txBody>
      </p:sp>
      <p:pic>
        <p:nvPicPr>
          <p:cNvPr id="5" name="Picture 4" descr="fig12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Same data, same metrics. </a:t>
            </a:r>
            <a:r>
              <a:rPr sz="1750">
                <a:solidFill>
                  <a:srgbClr val="262626"/>
                </a:solidFill>
                <a:latin typeface="Arial"/>
              </a:rPr>
              <a:t>The only change is replacing grouped-drive with random-row splitting.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The mechanism: </a:t>
            </a:r>
            <a:r>
              <a:rPr sz="1750">
                <a:solidFill>
                  <a:srgbClr val="262626"/>
                </a:solidFill>
                <a:latin typeface="Arial"/>
              </a:rPr>
              <a:t>a 10 s window straddling a random split shares samples with its own training set.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Implication for the literature: </a:t>
            </a:r>
            <a:r>
              <a:rPr sz="1750">
                <a:solidFill>
                  <a:srgbClr val="262626"/>
                </a:solidFill>
                <a:latin typeface="Arial"/>
              </a:rPr>
              <a:t>a published GRU result on a randomly split drive-test set reads as roughly double.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inflation is differential, so a careless split does not merely raise scores - it reorders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Both arms run under an identical protocol, or the comparison would measure the protocol rather than the leak.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distribution-free bound on missed handovers, and what it costs to hold it</a:t>
            </a:r>
          </a:p>
        </p:txBody>
      </p:sp>
      <p:pic>
        <p:nvPicPr>
          <p:cNvPr id="5" name="Picture 4" descr="m05_c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257" y="2212848"/>
            <a:ext cx="6161581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Not my machinery. </a:t>
            </a:r>
            <a:r>
              <a:rPr sz="1500">
                <a:solidFill>
                  <a:srgbClr val="262626"/>
                </a:solidFill>
                <a:latin typeface="Arial"/>
              </a:rPr>
              <a:t>Conformal is already in wireless: Cohen 2022, Simeone 2025.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Mine is the exchangeable unit: </a:t>
            </a:r>
            <a:r>
              <a:rPr sz="1500">
                <a:solidFill>
                  <a:srgbClr val="262626"/>
                </a:solidFill>
                <a:latin typeface="Arial"/>
              </a:rPr>
              <a:t>the whole drive, which sets the floor n ≥ 1/α − 1.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Honest about price: </a:t>
            </a:r>
            <a:r>
              <a:rPr sz="1500">
                <a:solidFill>
                  <a:srgbClr val="262626"/>
                </a:solidFill>
                <a:latin typeface="Arial"/>
              </a:rPr>
              <a:t>at a 20% target the threshold alarms on 23% of samples.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Below a 15% target it rises steeply, </a:t>
            </a:r>
            <a:r>
              <a:rPr sz="1500">
                <a:solidFill>
                  <a:srgbClr val="262626"/>
                </a:solidFill>
                <a:latin typeface="Arial"/>
              </a:rPr>
              <a:t>and the frontier is published, not one flattering 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Conformal prediction in wireless is not new. The exchangeable unit is what is new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Prior wireless conformal work bounds prediction SETS for i.i.d.-within-frame tasks; this bounds a KPI over a per-drive exchangeable stream.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guarantee is affordable above a 15% miss rate and expensive below it</a:t>
            </a:r>
          </a:p>
        </p:txBody>
      </p:sp>
      <p:pic>
        <p:nvPicPr>
          <p:cNvPr id="5" name="Picture 4" descr="fig14_risk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Two curves, one decision: </a:t>
            </a:r>
            <a:r>
              <a:rPr sz="1500">
                <a:solidFill>
                  <a:srgbClr val="262626"/>
                </a:solidFill>
                <a:latin typeface="Arial"/>
              </a:rPr>
              <a:t>the certified alarm rate falls as the tolerated miss rate rises.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At alpha = 0.20: </a:t>
            </a:r>
            <a:r>
              <a:rPr sz="1500">
                <a:solidFill>
                  <a:srgbClr val="262626"/>
                </a:solidFill>
                <a:latin typeface="Arial"/>
              </a:rPr>
              <a:t>alarms on 23% of samples, misses 12.6% of handovers, bound held on 82% of test drives.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At alpha = 0.05 the alarm rate is 61%, </a:t>
            </a:r>
            <a:r>
              <a:rPr sz="1500">
                <a:solidFill>
                  <a:srgbClr val="262626"/>
                </a:solidFill>
                <a:latin typeface="Arial"/>
              </a:rPr>
              <a:t>which is a guarantee nobody would deploy.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Stated, not implied: </a:t>
            </a:r>
            <a:r>
              <a:rPr sz="1500">
                <a:solidFill>
                  <a:srgbClr val="262626"/>
                </a:solidFill>
                <a:latin typeface="Arial"/>
              </a:rPr>
              <a:t>a distribution-free bound is not free.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bound is on the expected risk for a fresh drive, not on every individual drive.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Realised test miss rate stays below the target at every operating point on the frontier.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fourth capture, a new corridor, twice the speed - and the same result</a:t>
            </a:r>
          </a:p>
        </p:txBody>
      </p:sp>
      <p:pic>
        <p:nvPicPr>
          <p:cNvPr id="5" name="Picture 4" descr="fig25_capture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27" y="2258568"/>
            <a:ext cx="5926360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highway run to Gazipur, </a:t>
            </a:r>
            <a:r>
              <a:rPr sz="1700">
                <a:solidFill>
                  <a:srgbClr val="262626"/>
                </a:solidFill>
                <a:latin typeface="Arial"/>
              </a:rPr>
              <a:t>49.5 km/h mean - driven after the model was frozen.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Adding it moved pooled AUROC by zero. </a:t>
            </a:r>
            <a:r>
              <a:rPr sz="1700">
                <a:solidFill>
                  <a:srgbClr val="262626"/>
                </a:solidFill>
                <a:latin typeface="Arial"/>
              </a:rPr>
              <a:t>0.933 before, 0.933 after.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Held out whole it scores 0.927, </a:t>
            </a:r>
            <a:r>
              <a:rPr sz="1700">
                <a:solidFill>
                  <a:srgbClr val="262626"/>
                </a:solidFill>
                <a:latin typeface="Arial"/>
              </a:rPr>
              <a:t>with the highest lift and lowest calibration error of the four.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Failures collapse too: </a:t>
            </a:r>
            <a:r>
              <a:rPr sz="1700">
                <a:solidFill>
                  <a:srgbClr val="262626"/>
                </a:solidFill>
                <a:latin typeface="Arial"/>
              </a:rPr>
              <a:t>159 in the urban core, 5 on the highway.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Four captures give four points. This is a strong design, not a large sample.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Stage 21: train on three captures, test on the fourth, four times over. Four captures give four points - a strong design, not a large sample.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Real-to-real transfer holds, and the model matches an independent dataset's own ceiling</a:t>
            </a:r>
          </a:p>
        </p:txBody>
      </p:sp>
      <p:pic>
        <p:nvPicPr>
          <p:cNvPr id="5" name="Picture 4" descr="fig15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88286"/>
            <a:ext cx="6446520" cy="3223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Across captures: </a:t>
            </a:r>
            <a:r>
              <a:rPr sz="1500">
                <a:solidFill>
                  <a:srgbClr val="262626"/>
                </a:solidFill>
                <a:latin typeface="Arial"/>
              </a:rPr>
              <a:t>AUROC 0.88-0.93 with nothing shared - not drives, routes, cells or scaler.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Out of domain: </a:t>
            </a:r>
            <a:r>
              <a:rPr sz="1500">
                <a:solidFill>
                  <a:srgbClr val="262626"/>
                </a:solidFill>
                <a:latin typeface="Arial"/>
              </a:rPr>
              <a:t>0.752 on a public dataset whose own in-domain ceiling is 0.745.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Nothing is shared across the boundary: </a:t>
            </a:r>
            <a:r>
              <a:rPr sz="1500">
                <a:solidFill>
                  <a:srgbClr val="262626"/>
                </a:solidFill>
                <a:latin typeface="Arial"/>
              </a:rPr>
              <a:t>no drive, no route, no cell, and the scaler is refitted on the target side.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Across A3 regimes: </a:t>
            </a:r>
            <a:r>
              <a:rPr sz="1500">
                <a:solidFill>
                  <a:srgbClr val="262626"/>
                </a:solidFill>
                <a:latin typeface="Arial"/>
              </a:rPr>
              <a:t>a real cost of 0.088 AUROC that A3 features do not recover.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Configuration is a real domain boundary, and conditioning on the measured A3 parameters recovers none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Public dataset: Shafi et al. (2025), Mendeley Data, DOI 10.17632/n2pvmtyn2j.1. Our parser agrees 310/310 with the vendor's event counter.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Both zero-cost domain adaptations make transfer worse, not better</a:t>
            </a:r>
          </a:p>
        </p:txBody>
      </p:sp>
      <p:pic>
        <p:nvPicPr>
          <p:cNvPr id="5" name="Picture 4" descr="m07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802" y="2212848"/>
            <a:ext cx="736249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Tried in good faith: </a:t>
            </a:r>
            <a:r>
              <a:rPr sz="1600">
                <a:solidFill>
                  <a:srgbClr val="262626"/>
                </a:solidFill>
                <a:latin typeface="Arial"/>
              </a:rPr>
              <a:t>per-drive standardisation and CORAL - unsupervised, no target labels, free at deployment.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Both lose on both sides, </a:t>
            </a:r>
            <a:r>
              <a:rPr sz="1600">
                <a:solidFill>
                  <a:srgbClr val="262626"/>
                </a:solidFill>
                <a:latin typeface="Arial"/>
              </a:rPr>
              <a:t>including matched-domain accuracy, which rules out a robustness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Why: </a:t>
            </a:r>
            <a:r>
              <a:rPr sz="1600">
                <a:solidFill>
                  <a:srgbClr val="262626"/>
                </a:solidFill>
                <a:latin typeface="Arial"/>
              </a:rPr>
              <a:t>the absolute radio level carries the signal, and feature alignment is exactly what deletes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LightGBM, identical held-out drives on every arm. Figures comparable across adaptations within this experiment only.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quantity the deployed rule thresholds on is the weakest predictor available</a:t>
            </a:r>
          </a:p>
        </p:txBody>
      </p:sp>
      <p:pic>
        <p:nvPicPr>
          <p:cNvPr id="5" name="Picture 4" descr="fig17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204" y="2258568"/>
            <a:ext cx="5530606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Dwell time wins: </a:t>
            </a:r>
            <a:r>
              <a:rPr sz="1500">
                <a:solidFill>
                  <a:srgbClr val="262626"/>
                </a:solidFill>
                <a:latin typeface="Arial"/>
              </a:rPr>
              <a:t>how long the phone has already been on the cell, AUROC 0.874.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A3 gap loses: </a:t>
            </a:r>
            <a:r>
              <a:rPr sz="1500">
                <a:solidFill>
                  <a:srgbClr val="262626"/>
                </a:solidFill>
                <a:latin typeface="Arial"/>
              </a:rPr>
              <a:t>0.566, barely above chance.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Why: </a:t>
            </a:r>
            <a:r>
              <a:rPr sz="1500">
                <a:solidFill>
                  <a:srgbClr val="262626"/>
                </a:solidFill>
                <a:latin typeface="Arial"/>
              </a:rPr>
              <a:t>the gap condition is necessary but not sufficient - it holds on 27% of samples, and three in five resulting reports are declined.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Signalling features are informative alone </a:t>
            </a:r>
            <a:r>
              <a:rPr sz="1500">
                <a:solidFill>
                  <a:srgbClr val="262626"/>
                </a:solidFill>
                <a:latin typeface="Arial"/>
              </a:rPr>
              <a:t>and redundant in combination.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A3 gap condition is necessary, and nowhere near sufficient.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Single-feature AUROC at the 1 s horizon, out-of-fold over 57 drives.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Three in five A3 reports are declined, and most of all on the highway</a:t>
            </a:r>
          </a:p>
        </p:txBody>
      </p:sp>
      <p:pic>
        <p:nvPicPr>
          <p:cNvPr id="5" name="Picture 4" descr="m0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512" y="2212848"/>
            <a:ext cx="7645070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62.9% of A3 reports declined at 2 s </a:t>
            </a:r>
            <a:r>
              <a:rPr sz="1500">
                <a:solidFill>
                  <a:srgbClr val="262626"/>
                </a:solidFill>
                <a:latin typeface="Arial"/>
              </a:rPr>
              <a:t>- report set and window stated, because both move the number.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It rises with cell size: </a:t>
            </a:r>
            <a:r>
              <a:rPr sz="1500">
                <a:solidFill>
                  <a:srgbClr val="262626"/>
                </a:solidFill>
                <a:latin typeface="Arial"/>
              </a:rPr>
              <a:t>57.2% urban arterial, 63.3% dense urban, 71.9% on the highway.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Reporting a condition is not acting on it. </a:t>
            </a:r>
            <a:r>
              <a:rPr sz="1500">
                <a:solidFill>
                  <a:srgbClr val="262626"/>
                </a:solidFill>
                <a:latin typeface="Arial"/>
              </a:rPr>
              <a:t>The entering condition is necessary, nowhere near sufficient.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Report set and window both move this number by ten to twenty points, so both are stated with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Ghoshal et al. (2025) report 69-87% non-conversion across three US operators; their report set and window are not stated, so the comparison is directional.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are strongly self-exciting: six in ten follow another handover</a:t>
            </a:r>
          </a:p>
        </p:txBody>
      </p:sp>
      <p:pic>
        <p:nvPicPr>
          <p:cNvPr id="5" name="Picture 4" descr="fig18_hawk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34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Branching ratio 0.605 </a:t>
            </a:r>
            <a:r>
              <a:rPr sz="1500">
                <a:solidFill>
                  <a:srgbClr val="262626"/>
                </a:solidFill>
                <a:latin typeface="Arial"/>
              </a:rPr>
              <a:t>[0.524, 0.673], stable across four captures and two mobility regimes.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Decisively non-Poisson, </a:t>
            </a:r>
            <a:r>
              <a:rPr sz="1500">
                <a:solidFill>
                  <a:srgbClr val="262626"/>
                </a:solidFill>
                <a:latin typeface="Arial"/>
              </a:rPr>
              <a:t>and not a renewal process either.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Honest about fit: </a:t>
            </a:r>
            <a:r>
              <a:rPr sz="1500">
                <a:solidFill>
                  <a:srgbClr val="262626"/>
                </a:solidFill>
                <a:latin typeface="Arial"/>
              </a:rPr>
              <a:t>the exponential kernel is itself rejected by an Ogata residual test.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So 0.61 is </a:t>
            </a:r>
            <a:r>
              <a:rPr sz="1500">
                <a:solidFill>
                  <a:srgbClr val="262626"/>
                </a:solidFill>
                <a:latin typeface="Arial"/>
              </a:rPr>
              <a:t>a calibrated measure of clustering strength under a stated kernel, not a generative claim.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 calibrated measure of clustering strength under a stated kernel - not a generative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Pooled over four captures and 930 events; the highway capture sits lowest at 0.513, as wider cells should.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same 938 handovers give a ping-pong rate anywhere from 24.5% to 41.3%</a:t>
            </a:r>
          </a:p>
        </p:txBody>
      </p:sp>
      <p:pic>
        <p:nvPicPr>
          <p:cNvPr id="5" name="Picture 4" descr="fig23_pingpong_defin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87" y="2258568"/>
            <a:ext cx="5815640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Three choices, rarely stated. </a:t>
            </a:r>
            <a:r>
              <a:rPr sz="1700">
                <a:solidFill>
                  <a:srgbClr val="262626"/>
                </a:solidFill>
                <a:latin typeface="Arial"/>
              </a:rPr>
              <a:t>Same cell? Immediate return? Which events count?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Cell identity: 4.5 points. </a:t>
            </a:r>
            <a:r>
              <a:rPr sz="1700">
                <a:solidFill>
                  <a:srgbClr val="262626"/>
                </a:solidFill>
                <a:latin typeface="Arial"/>
              </a:rPr>
              <a:t>Six carriers, and PCIs repeat across them.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return rule: 9.5 points. </a:t>
            </a:r>
            <a:r>
              <a:rPr sz="1700">
                <a:solidFill>
                  <a:srgbClr val="262626"/>
                </a:solidFill>
                <a:latin typeface="Arial"/>
              </a:rPr>
              <a:t>Handovers come a median 3.5 s apart.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So published rates </a:t>
            </a:r>
            <a:r>
              <a:rPr sz="1700">
                <a:solidFill>
                  <a:srgbClr val="262626"/>
                </a:solidFill>
                <a:latin typeface="Arial"/>
              </a:rPr>
              <a:t>are not comparable. That is a finding, not a complaint.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Published ping-pong rates are not comparable with one another. That is a finding, not a complaint.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All four rows computed on the same 938 signalling-confirmed handovers. The thesis quotes the top row and states all three choices with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Ping-pong is one carrier layer and one A3 profile, not speed</a:t>
            </a:r>
          </a:p>
        </p:txBody>
      </p:sp>
      <p:pic>
        <p:nvPicPr>
          <p:cNvPr id="5" name="Picture 4" descr="fig24_pingpong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77462"/>
            <a:ext cx="6446520" cy="3044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891313"/>
                </a:solidFill>
                <a:latin typeface="Arial"/>
              </a:rPr>
              <a:t>Five times the rate </a:t>
            </a:r>
            <a:r>
              <a:rPr sz="1650">
                <a:solidFill>
                  <a:srgbClr val="262626"/>
                </a:solidFill>
                <a:latin typeface="Arial"/>
              </a:rPr>
              <a:t>when the handover stays on its carrier: 31.0% vs 6.5%.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891313"/>
                </a:solidFill>
                <a:latin typeface="Arial"/>
              </a:rPr>
              <a:t>Not the negative offsets. </a:t>
            </a:r>
            <a:r>
              <a:rPr sz="1650">
                <a:solidFill>
                  <a:srgbClr val="262626"/>
                </a:solidFill>
                <a:latin typeface="Arial"/>
              </a:rPr>
              <a:t>-15 and -10 dB are the inter-frequency profiles.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891313"/>
                </a:solidFill>
                <a:latin typeface="Arial"/>
              </a:rPr>
              <a:t>One profile carries it: </a:t>
            </a:r>
            <a:r>
              <a:rPr sz="1650">
                <a:solidFill>
                  <a:srgbClr val="262626"/>
                </a:solidFill>
                <a:latin typeface="Arial"/>
              </a:rPr>
              <a:t>+1 dB, 320 ms TTT, 72% of all handovers, 29.2%.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891313"/>
                </a:solidFill>
                <a:latin typeface="Arial"/>
              </a:rPr>
              <a:t>The lever is that TTT. </a:t>
            </a:r>
            <a:r>
              <a:rPr sz="1650">
                <a:solidFill>
                  <a:srgbClr val="262626"/>
                </a:solidFill>
                <a:latin typeface="Arial"/>
              </a:rPr>
              <a:t>Not speed: the highway still returns 31.1%.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lever is a time-to-trigger of 320 ms, and that is a parameter an operator can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Ping-pong flagged as A to B and straight back within 15 s, cell identified by PCI and carrier.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warning earns its alarm budget only up to about 20% of samples</a:t>
            </a:r>
          </a:p>
        </p:txBody>
      </p:sp>
      <p:pic>
        <p:nvPicPr>
          <p:cNvPr id="5" name="Picture 4" descr="fig20_bene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731" y="2258568"/>
            <a:ext cx="5411552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Coverage alone is not evidence. </a:t>
            </a:r>
            <a:r>
              <a:rPr sz="1500">
                <a:solidFill>
                  <a:srgbClr val="262626"/>
                </a:solidFill>
                <a:latin typeface="Arial"/>
              </a:rPr>
              <a:t>The reference is a same-rate random alarm.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Without that reference </a:t>
            </a:r>
            <a:r>
              <a:rPr sz="1500">
                <a:solidFill>
                  <a:srgbClr val="262626"/>
                </a:solidFill>
                <a:latin typeface="Arial"/>
              </a:rPr>
              <a:t>the benefit is overstated by two thirds at a 10% budget.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 prediction of mine was refuted: </a:t>
            </a:r>
            <a:r>
              <a:rPr sz="1500">
                <a:solidFill>
                  <a:srgbClr val="262626"/>
                </a:solidFill>
                <a:latin typeface="Arial"/>
              </a:rPr>
              <a:t>a dedicated ping-pong model reaches AUROC 0.51 - chance.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Because </a:t>
            </a:r>
            <a:r>
              <a:rPr sz="1500">
                <a:solidFill>
                  <a:srgbClr val="262626"/>
                </a:solidFill>
                <a:latin typeface="Arial"/>
              </a:rPr>
              <a:t>every ping-pong is a handover, and handovers are far more predictable.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Without a same-rate random reference the benefit is overstated by two thirds at a 10% alarm budget.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Excess coverage over a same-rate random alarm, by alarm budget. Actuator efficacy is stated, not estimated.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nearest published method on this network scores 0.489 where this work scores 0.921</a:t>
            </a:r>
          </a:p>
        </p:txBody>
      </p:sp>
      <p:pic>
        <p:nvPicPr>
          <p:cNvPr id="5" name="Picture 4" descr="m10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646" y="2212848"/>
            <a:ext cx="8070803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Reimplemented exactly, </a:t>
            </a:r>
            <a:r>
              <a:rPr sz="1500">
                <a:solidFill>
                  <a:srgbClr val="262626"/>
                </a:solidFill>
                <a:latin typeface="Arial"/>
              </a:rPr>
              <a:t>then scored generously on the rows its own dataset always has.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Their five features are informative: </a:t>
            </a:r>
            <a:r>
              <a:rPr sz="1500">
                <a:solidFill>
                  <a:srgbClr val="262626"/>
                </a:solidFill>
                <a:latin typeface="Arial"/>
              </a:rPr>
              <a:t>our learner reaches 0.766 from them. The gap is the method, not the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Their own reward beats their agent, </a:t>
            </a:r>
            <a:r>
              <a:rPr sz="1500">
                <a:solidFill>
                  <a:srgbClr val="262626"/>
                </a:solidFill>
                <a:latin typeface="Arial"/>
              </a:rPr>
              <a:t>0.624 against 0.489 - the reinforcement learning adds nothing the reward did not already contain.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gap is the method, not the features: our learner reaches 0.766 on their own five inputs.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Same operator, city and instrument. No publication record found; held as an unpublished manuscript.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two comparisons with the literature that are actually fair</a:t>
            </a:r>
          </a:p>
        </p:txBody>
      </p:sp>
      <p:pic>
        <p:nvPicPr>
          <p:cNvPr id="5" name="Picture 4" descr="fig26_literature_headto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55039"/>
            <a:ext cx="6446520" cy="3089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Left: reimplemented, not quoted. </a:t>
            </a:r>
            <a:r>
              <a:rPr sz="1700">
                <a:solidFill>
                  <a:srgbClr val="262626"/>
                </a:solidFill>
                <a:latin typeface="Arial"/>
              </a:rPr>
              <a:t>Same 654 rows, same protocol.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Right: why headlines do not travel. </a:t>
            </a:r>
            <a:r>
              <a:rPr sz="1700">
                <a:solidFill>
                  <a:srgbClr val="262626"/>
                </a:solidFill>
                <a:latin typeface="Arial"/>
              </a:rPr>
              <a:t>Always saying no scores 93.3% accuracy here - and 6.7% AUPRC.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7 of 22 audited papers </a:t>
            </a:r>
            <a:r>
              <a:rPr sz="1700">
                <a:solidFill>
                  <a:srgbClr val="262626"/>
                </a:solidFill>
                <a:latin typeface="Arial"/>
              </a:rPr>
              <a:t>quote accuracy on an imbalanced task.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So we compare on protocol </a:t>
            </a:r>
            <a:r>
              <a:rPr sz="1700">
                <a:solidFill>
                  <a:srgbClr val="262626"/>
                </a:solidFill>
                <a:latin typeface="Arial"/>
              </a:rPr>
              <a:t>and on reimplementation, never across datasets.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Compare by reimplementation, or on protocol. Never by quoting a number across datasets.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Stage 20 on the four-capture dataset. Cross-dataset accuracy comparisons are not made anywhere in this work.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method here is borrowed on purpose; what is new is where each one is pointed</a:t>
            </a:r>
          </a:p>
        </p:txBody>
      </p:sp>
      <p:pic>
        <p:nvPicPr>
          <p:cNvPr id="5" name="Picture 4" descr="fig28_novel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92" y="2258568"/>
            <a:ext cx="6228031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Nothing on the left is invented, </a:t>
            </a:r>
            <a:r>
              <a:rPr sz="1600">
                <a:solidFill>
                  <a:srgbClr val="262626"/>
                </a:solidFill>
                <a:latin typeface="Arial"/>
              </a:rPr>
              <a:t>and each component is cited where it is used.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right column is the thesis: </a:t>
            </a:r>
            <a:r>
              <a:rPr sz="1600">
                <a:solidFill>
                  <a:srgbClr val="262626"/>
                </a:solidFill>
                <a:latin typeface="Arial"/>
              </a:rPr>
              <a:t>a survival identity aimed at handover, a conformal guarantee whose unit is the drive, a branching ratio for handover arrivals.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Borrowing well is a contribution </a:t>
            </a:r>
            <a:r>
              <a:rPr sz="1600">
                <a:solidFill>
                  <a:srgbClr val="262626"/>
                </a:solidFill>
                <a:latin typeface="Arial"/>
              </a:rPr>
              <a:t>when the pairing is new and the protocol is honest.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Borrowing well is a contribution when the pairing is new and the protocol is honest.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Full contribution table with nineteen numbered items in the thesis; appendix F carries the provenance map.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Objectives, evidence, and the boundary of each claim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/>
                <a:gridCol w="4617720"/>
                <a:gridCol w="32918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Evidence delivered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Status and boundary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O1  Multi-horizon prediction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five horizons; 1 s AUPRC 0.784, AUROC 0.933, ECE 0.024  -  11.7x the floor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Met  -  on 57 drives, one operator, four days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O2  A credible benchmark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seven learners, grouped rotation over 5 seeds, equal tuning budget, leakage study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Met  -  the tuned arm is still a three-capture run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O3  Usable probabilities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0% coherence violations against 43.6%; ECE -0.006 to -0.029; a certified per-drive bound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Met  -  under per-drive exchangeability, stated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O4  Generalisation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leave-one-capture-out 0.909 to 0.949; external 0.752 against that data's own 0.745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Met  -  a four-point design, not a large sample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O5  Mechanism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dwell 0.874 against the A3 gap 0.566; 62.9% of reports declined; branching ratio 0.605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Met  -  the Hawkes kernel is misspecified, and said so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(not claimed)  Network benefit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a counting upper bound against a same-rate random alarm; no controlled intervention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Future work  -  off-policy evaluation is unidentified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objective is met on the evidence stated. The causal claim is the one this work does not make.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The boundary column uses the same wording as the thesis limitations section, so the two cannot drift apart.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More information and more machinery did not help; formulation and configuration did</a:t>
            </a:r>
          </a:p>
        </p:txBody>
      </p:sp>
      <p:pic>
        <p:nvPicPr>
          <p:cNvPr id="5" name="Picture 4" descr="fig22_nega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71" y="2258568"/>
            <a:ext cx="6209873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Five channels added in good faith, </a:t>
            </a:r>
            <a:r>
              <a:rPr sz="1750">
                <a:solidFill>
                  <a:srgbClr val="262626"/>
                </a:solidFill>
                <a:latin typeface="Arial"/>
              </a:rPr>
              <a:t>each expected to help, each measured.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Every negative is measured, not assumed </a:t>
            </a:r>
            <a:r>
              <a:rPr sz="1750">
                <a:solidFill>
                  <a:srgbClr val="262626"/>
                </a:solidFill>
                <a:latin typeface="Arial"/>
              </a:rPr>
              <a:t>- which is what makes the pattern worth stating at all.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Three things moved the result: </a:t>
            </a:r>
            <a:r>
              <a:rPr sz="1750">
                <a:solidFill>
                  <a:srgbClr val="262626"/>
                </a:solidFill>
                <a:latin typeface="Arial"/>
              </a:rPr>
              <a:t>reformulating the target, the configuration regime, and grouping the split by drive.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negative here is a controlled comparison with a stated mechanism, not an absence of effort.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row is a controlled comparison run under the same protocol.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this work cannot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Scale.  </a:t>
            </a:r>
            <a:r>
              <a:rPr sz="1700">
                <a:solidFill>
                  <a:srgbClr val="262626"/>
                </a:solidFill>
                <a:latin typeface="Arial"/>
              </a:rPr>
              <a:t>57 drives, two corridors, one operator, four days. Enough for grouped cross-validation with 57 bootstrap groups and a four-point leave-one-capture-out design; not enough to claim generality across cities or operators.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Sampling rate.  </a:t>
            </a:r>
            <a:r>
              <a:rPr sz="1700">
                <a:solidFill>
                  <a:srgbClr val="262626"/>
                </a:solidFill>
                <a:latin typeface="Arial"/>
              </a:rPr>
              <a:t>1 Hz caps event detection at 90.5%. It does not cap horizon resolution - the event clock is finer than the sample clock.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Cross-regime transfer rests on one regime pair.  </a:t>
            </a:r>
            <a:r>
              <a:rPr sz="1700">
                <a:solidFill>
                  <a:srgbClr val="262626"/>
                </a:solidFill>
                <a:latin typeface="Arial"/>
              </a:rPr>
              <a:t>Only two A3 profiles clear the 60-handover bar on an identical test set.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 causal estimate of the actuator.  </a:t>
            </a:r>
            <a:r>
              <a:rPr sz="1700">
                <a:solidFill>
                  <a:srgbClr val="262626"/>
                </a:solidFill>
                <a:latin typeface="Arial"/>
              </a:rPr>
              <a:t>Off-policy evaluation is unidentified here because the logging policy is deterministic: A3 either fires or it does not.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Hawkes kernel is misspecified, </a:t>
            </a:r>
            <a:r>
              <a:rPr sz="1700">
                <a:solidFill>
                  <a:srgbClr val="262626"/>
                </a:solidFill>
                <a:latin typeface="Arial"/>
              </a:rPr>
              <a:t>and the thesis says so rather than leaving a reviewer to find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limitation is stated with the measurement that bounds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limitation is stated in the thesis alongside the measurement that bounds it.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directions, and one of them makes the causal question identifiable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Fuzzy regression discontinuity at the A3 boundary.  </a:t>
            </a:r>
            <a:r>
              <a:rPr sz="1700">
                <a:solidFill>
                  <a:srgbClr val="262626"/>
                </a:solidFill>
                <a:latin typeface="Arial"/>
              </a:rPr>
              <a:t>The identifiable alternative to off-policy evaluation: compare drives just inside and just outside the firing condition.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second corridor and a third A3 regime.  </a:t>
            </a:r>
            <a:r>
              <a:rPr sz="1700">
                <a:solidFill>
                  <a:srgbClr val="262626"/>
                </a:solidFill>
                <a:latin typeface="Arial"/>
              </a:rPr>
              <a:t>One more capture day on a new route turns one regime pair into a matrix.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Close the loop to an outcome.  </a:t>
            </a:r>
            <a:r>
              <a:rPr sz="1700">
                <a:solidFill>
                  <a:srgbClr val="262626"/>
                </a:solidFill>
                <a:latin typeface="Arial"/>
              </a:rPr>
              <a:t>Connect the two-second warning to a measured throughput or interruption effect, not a counting bound.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Release the code and the dataset.  </a:t>
            </a:r>
            <a:r>
              <a:rPr sz="1700">
                <a:solidFill>
                  <a:srgbClr val="262626"/>
                </a:solidFill>
                <a:latin typeface="Arial"/>
              </a:rPr>
              <a:t>Two of 22 audited papers release code and one releases data; a release is a citable output in its own right.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first direction is the identifiable route to the causal effect the previous slide rules out.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42416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1.  Handover is predictable well ahead of the rule that causes it.  </a:t>
            </a:r>
            <a:r>
              <a:rPr sz="1700">
                <a:solidFill>
                  <a:srgbClr val="262626"/>
                </a:solidFill>
                <a:latin typeface="Arial"/>
              </a:rPr>
              <a:t>AUROC 0.933 and AUPRC 0.784 at 1 s on signalling ground truth - nearly twelve times the prevalence floor, with calibrated probabilities and a per-drive bound. Unchanged when a highway capture was added.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2.  Formulation beats information.  </a:t>
            </a:r>
            <a:r>
              <a:rPr sz="1700">
                <a:solidFill>
                  <a:srgbClr val="262626"/>
                </a:solidFill>
                <a:latin typeface="Arial"/>
              </a:rPr>
              <a:t>A discrete-time hazard delivers coherence, calibration and ranking from one fit; five separate information channels delivered nothing.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3.  The protocol is as much the contribution as the model.  </a:t>
            </a:r>
            <a:r>
              <a:rPr sz="1700">
                <a:solidFill>
                  <a:srgbClr val="262626"/>
                </a:solidFill>
                <a:latin typeface="Arial"/>
              </a:rPr>
              <a:t>Grouped splits, a prevalence floor, event-level costs and a distribution-free bound - none of which the comparable literature reports.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4.  Negative results were measured and published, not discarded.  </a:t>
            </a:r>
            <a:r>
              <a:rPr sz="1700">
                <a:solidFill>
                  <a:srgbClr val="262626"/>
                </a:solidFill>
                <a:latin typeface="Arial"/>
              </a:rPr>
              <a:t>Including one prediction of my own that was refuted.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943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Abeer Saadman  |  Department of EEE, Islamic University of Technology  |  [email]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Selected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3GPP TS 36.331. Evolved Universal Terrestrial Radio Access (E-UTRA); Radio Resource Control (RRC); Protocol specification.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Angelopoulos, A.N., Bates, S., Candes, E.J., Jordan, M.I. &amp; Lei, L. (2022). Conformal Risk Control. arXiv:2208.02814.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Ankome, T. &amp; Hanada, E. (2026). Reactive to Predictive Mobility Management: A Systematic Review of ML-Driven Handover Optimization in 5G and Beyond. Machine Learning and Knowledge Extraction, 8(5), 133.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Cohen, K.M., Park, S., Simeone, O. &amp; Shamai Shitz, S. (2022). Calibrating AI Models for Wireless Communications via Conformal Prediction. arXiv:2212.07775.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Deng, Y., Peng, C., Fida, M.-R., Meng, J. &amp; Hu, Y.C. (2018). Mobility Support in Cellular Networks: A Measurement Study on Its Configurations and Implications. ACM IMC, 147-160.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Ghoshal, M., Khan, I., Dinh, T., Kong, Z., Basit, A., Wang, W., Feng, Y., Hu, Y.C. &amp; Koutsonikolas, D. (2025). Handover Configurations in Operational 5G Networks. arXiv:2511.03116.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Hasan, K., Trappenberg, T. &amp; Haque, I. (2024). A Generalized Transformer-based Radio Link Failure Prediction Framework in 5G RANs. arXiv:2407.05197.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Hawkes, A.G. (1971). Spectra of some self-exciting and mutually exciting point processes. Biometrika, 58(1), 83-90.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76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Ke, G., Meng, Q., Finley, T., Wang, T., Chen, W., Ma, W., Ye, Q. &amp; Liu, T.-Y. (2017). LightGBM: A Highly Efficient Gradient Boosting Decision Tree. NeurIPS.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Laub, P.J., Lee, Y., Pollett, P.K. &amp; Taimre, T. (2025). Hawkes Models and Their Applications. Annual Review of Statistics and Its Application, 12, 233-258.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Ogata, Y. (1988). Statistical models for earthquake occurrences and residual analysis for point processes. JASA, 83(401), 9-27.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Price-Williams, M. &amp; Heard, N.A. (2020). Nonparametric self-exciting models for computer network traffic. Statistics and Computing, 30(2), 209-220.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Shafi, M.M.S., Istiaque, K.M., Sowad, S.S. &amp; Kawser, M.T. (2025). Drive-Test-Based LTE Handover Dataset for Cellular Mobility Studies in Urban Bangladesh. Mendeley Data, V1. DOI 10.17632/n2pvmtyn2j.1.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Sun, B. &amp; Saenko, K. (2016). Deep CORAL: Correlation Alignment for Deep Domain Adaptation. ECCV 2016 Workshops, LNCS 9915, 443-450.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Wiegrebe, S., Kopper, P., Sonabend, R., Bischl, B. &amp; Bender, A. (2024). Deep learning for survival analysis: a review. Artificial Intelligence Review, 57(3), 65.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Zidic, A., Mastelic, T., Nizetic Kosovic, I., Cagalj, M. &amp; Lorincz, J. (2023). Analyses of ping-pong handovers in real 4G telecommunication networks. Computer Networks, 227, 109699.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89904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Full bibliography: 108 screened references, 93 verified against the publisher or author record; 22-paper protocol audit.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1732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891313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262626"/>
                </a:solidFill>
                <a:latin typeface="Arial"/>
              </a:rPr>
              <a:t>Questions and feedback welcome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777777"/>
                </a:solidFill>
                <a:latin typeface="Arial"/>
              </a:rPr>
              <a:t>Abeer Saadman  |  Department of EEE, Islamic University of Technology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A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configuration-timeline defect, measured</a:t>
            </a:r>
          </a:p>
        </p:txBody>
      </p:sp>
      <p:pic>
        <p:nvPicPr>
          <p:cNvPr id="5" name="Picture 4" descr="fig07_config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how do you know the flat parse was wrong?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43% of reports carry no neighbour, </a:t>
            </a:r>
            <a:r>
              <a:rPr sz="1700">
                <a:solidFill>
                  <a:srgbClr val="262626"/>
                </a:solidFill>
                <a:latin typeface="Arial"/>
              </a:rPr>
              <a:t>so 99.4% A3 attribution is arithmetically impossible.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log itself shows </a:t>
            </a:r>
            <a:r>
              <a:rPr sz="1700">
                <a:solidFill>
                  <a:srgbClr val="262626"/>
                </a:solidFill>
                <a:latin typeface="Arial"/>
              </a:rPr>
              <a:t>1,424 A1, 1,401 A2 and 1,309 A3 configurations in one capture.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B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hazard identity, panel by panel</a:t>
            </a:r>
          </a:p>
        </p:txBody>
      </p:sp>
      <p:pic>
        <p:nvPicPr>
          <p:cNvPr id="5" name="Picture 4" descr="fig08_hazard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39769"/>
            <a:ext cx="6446520" cy="3177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why not just calibrate five heads?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calibration is per horizon </a:t>
            </a:r>
            <a:r>
              <a:rPr sz="1700">
                <a:solidFill>
                  <a:srgbClr val="262626"/>
                </a:solidFill>
                <a:latin typeface="Arial"/>
              </a:rPr>
              <a:t>and nothing couples the horizons to each other.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product-limit identity couples them </a:t>
            </a:r>
            <a:r>
              <a:rPr sz="1700">
                <a:solidFill>
                  <a:srgbClr val="262626"/>
                </a:solidFill>
                <a:latin typeface="Arial"/>
              </a:rPr>
              <a:t>before any calibration is applied.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C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Domain adaptation, arm by arm</a:t>
            </a:r>
          </a:p>
        </p:txBody>
      </p:sp>
      <p:pic>
        <p:nvPicPr>
          <p:cNvPr id="5" name="Picture 4" descr="fig16_adap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15" y="2258568"/>
            <a:ext cx="606338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did you try domain adaptation?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Yes, two standard unsupervised methods, </a:t>
            </a:r>
            <a:r>
              <a:rPr sz="1700">
                <a:solidFill>
                  <a:srgbClr val="262626"/>
                </a:solidFill>
                <a:latin typeface="Arial"/>
              </a:rPr>
              <a:t>and both lose on both sides of the transfer.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Matched-domain AUROC also falls </a:t>
            </a:r>
            <a:r>
              <a:rPr sz="1700">
                <a:solidFill>
                  <a:srgbClr val="262626"/>
                </a:solidFill>
                <a:latin typeface="Arial"/>
              </a:rPr>
              <a:t>(0.819 to 0.796 / 0.800), which rules out a robustness trade.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D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Report conversion, in numbers</a:t>
            </a:r>
          </a:p>
        </p:txBody>
      </p:sp>
      <p:pic>
        <p:nvPicPr>
          <p:cNvPr id="5" name="Picture 4" descr="fig1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71028"/>
            <a:ext cx="6446520" cy="33149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report conversion just the A3 rule restated?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No: </a:t>
            </a:r>
            <a:r>
              <a:rPr sz="1700">
                <a:solidFill>
                  <a:srgbClr val="262626"/>
                </a:solidFill>
                <a:latin typeface="Arial"/>
              </a:rPr>
              <a:t>the gate is satisfied for every one of these reports, yet three in five are declined.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rate tracks cell size: </a:t>
            </a:r>
            <a:r>
              <a:rPr sz="1700">
                <a:solidFill>
                  <a:srgbClr val="262626"/>
                </a:solidFill>
                <a:latin typeface="Arial"/>
              </a:rPr>
              <a:t>57.2% urban arterial, 63.3% dense urban, 71.9% on the highway.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predictor for this task </a:t>
            </a:r>
            <a:r>
              <a:rPr sz="1700">
                <a:solidFill>
                  <a:srgbClr val="262626"/>
                </a:solidFill>
                <a:latin typeface="Arial"/>
              </a:rPr>
              <a:t>is left for future work; on four captures it does not yet separate.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E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departmental comparison, arm by arm</a:t>
            </a:r>
          </a:p>
        </p:txBody>
      </p:sp>
      <p:pic>
        <p:nvPicPr>
          <p:cNvPr id="5" name="Picture 4" descr="fig21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93114"/>
            <a:ext cx="6446520" cy="3670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this a fair comparison?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Every choice was made in their favour: </a:t>
            </a:r>
            <a:r>
              <a:rPr sz="1700">
                <a:solidFill>
                  <a:srgbClr val="262626"/>
                </a:solidFill>
                <a:latin typeface="Arial"/>
              </a:rPr>
              <a:t>full learned advantage, their own row population, their more favourable gate reading.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Their published TTT filter </a:t>
            </a:r>
            <a:r>
              <a:rPr sz="1700">
                <a:solidFill>
                  <a:srgbClr val="262626"/>
                </a:solidFill>
                <a:latin typeface="Arial"/>
              </a:rPr>
              <a:t>consumes TTT seconds of the future, so it is inadmissible as evidence of prediction.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F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One pipeline, with the leakage guards built into its architecture</a:t>
            </a:r>
          </a:p>
        </p:txBody>
      </p:sp>
      <p:pic>
        <p:nvPicPr>
          <p:cNvPr id="5" name="Picture 4" descr="m0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675" y="2212848"/>
            <a:ext cx="898274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18 stages, 17 passing tests. </a:t>
            </a:r>
            <a:r>
              <a:rPr sz="1600">
                <a:solidFill>
                  <a:srgbClr val="262626"/>
                </a:solidFill>
                <a:latin typeface="Arial"/>
              </a:rPr>
              <a:t>Every number in the thesis is written by a stage, not typed.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guards are structural, not conventions: </a:t>
            </a:r>
            <a:r>
              <a:rPr sz="1600">
                <a:solidFill>
                  <a:srgbClr val="262626"/>
                </a:solidFill>
                <a:latin typeface="Arial"/>
              </a:rPr>
              <a:t>grouping is by whole drive, and nothing from a test fold is ever fitted.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Reproducible: </a:t>
            </a:r>
            <a:r>
              <a:rPr sz="1600">
                <a:solidFill>
                  <a:srgbClr val="262626"/>
                </a:solidFill>
                <a:latin typeface="Arial"/>
              </a:rPr>
              <a:t>a rebuild from the raw captures returns 10,260 samples and 938 handovers exactly.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G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literatures nearly meet here, and none of them quite touches</a:t>
            </a:r>
          </a:p>
        </p:txBody>
      </p:sp>
      <p:pic>
        <p:nvPicPr>
          <p:cNvPr id="5" name="Picture 4" descr="m11_li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532" y="2212848"/>
            <a:ext cx="791903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Measurement studies have the ground truth </a:t>
            </a:r>
            <a:r>
              <a:rPr sz="1600">
                <a:solidFill>
                  <a:srgbClr val="262626"/>
                </a:solidFill>
                <a:latin typeface="Arial"/>
              </a:rPr>
              <a:t>and build no predictor.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Prediction studies build predictors </a:t>
            </a:r>
            <a:r>
              <a:rPr sz="1600">
                <a:solidFill>
                  <a:srgbClr val="262626"/>
                </a:solidFill>
                <a:latin typeface="Arial"/>
              </a:rPr>
              <a:t>on simulation, without grouped splits, without calibration.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Survival and point-process methods are mature </a:t>
            </a:r>
            <a:r>
              <a:rPr sz="1600">
                <a:solidFill>
                  <a:srgbClr val="262626"/>
                </a:solidFill>
                <a:latin typeface="Arial"/>
              </a:rPr>
              <a:t>and have never been aimed at a drive test.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Conformal has entered wireless, </a:t>
            </a:r>
            <a:r>
              <a:rPr sz="1600">
                <a:solidFill>
                  <a:srgbClr val="262626"/>
                </a:solidFill>
                <a:latin typeface="Arial"/>
              </a:rPr>
              <a:t>but for i.i.d.-in-frame signal processing, not a mobility event stream.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Pass-3 literature map. Full thread-by-thread synthesis in the thesis.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H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claims the widened survey forced me to make smaller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Conformal prediction in wireless is not new.  </a:t>
            </a:r>
            <a:r>
              <a:rPr sz="1700">
                <a:solidFill>
                  <a:srgbClr val="262626"/>
                </a:solidFill>
                <a:latin typeface="Arial"/>
              </a:rPr>
              <a:t>Cohen et al. (2022) and Simeone et al. (2025) got there first. What survives as mine is narrower and better defended: their guarantee is over prediction SETS for tasks that are i.i.d. within a frame; mine is a RISK guarantee on an operator KPI over a stream exchangeable only by whole drive. The exchangeability unit is the contribution; the feasibility floor n ≥ 1/α − 1 is its consequence.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grouped-split claim has now been amended twice.  </a:t>
            </a:r>
            <a:r>
              <a:rPr sz="1700">
                <a:solidFill>
                  <a:srgbClr val="262626"/>
                </a:solidFill>
                <a:latin typeface="Arial"/>
              </a:rPr>
              <a:t>Doc 21 found one paper splitting by time. Pass 3 found two more - by travel day, and by deployment event. The honest form: ten of 22 state no split at all, five split on a unit coarser than a row, and none holds out the mobility unit for a per-timestep classification task on measured radio.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Why say this out loud in a defence.  </a:t>
            </a:r>
            <a:r>
              <a:rPr sz="1700">
                <a:solidFill>
                  <a:srgbClr val="262626"/>
                </a:solidFill>
                <a:latin typeface="Arial"/>
              </a:rPr>
              <a:t>The leakage result in this talk does not depend on scarcity. It depends on the inflation being real and differential - 74% for a GRU against 4% for logistic regression - and that was measured, not asserted.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Doc 22, sections 2M and 4. Both narrowed claims are stated in the thesis limitations section as well as in the positioning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Mostofa Rafid Chowdhury</dc:creator>
  <cp:lastModifiedBy>Dr. Mohammad Rakibul Islam, Professor,EEE</cp:lastModifiedBy>
  <cp:revision>69</cp:revision>
  <dcterms:created xsi:type="dcterms:W3CDTF">2020-11-20T22:35:19Z</dcterms:created>
  <dcterms:modified xsi:type="dcterms:W3CDTF">2025-05-06T05:57:29Z</dcterms:modified>
</cp:coreProperties>
</file>