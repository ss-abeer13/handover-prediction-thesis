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7" y="2258568"/>
            <a:ext cx="596152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80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80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80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argument runs, end to end</a:t>
            </a:r>
          </a:p>
        </p:txBody>
      </p:sp>
      <p:pic>
        <p:nvPicPr>
          <p:cNvPr id="5" name="Picture 4" descr="m08_nar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111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Two halves have to hold together: </a:t>
            </a:r>
            <a:r>
              <a:rPr sz="1600">
                <a:solidFill>
                  <a:srgbClr val="262626"/>
                </a:solidFill>
                <a:latin typeface="Arial"/>
              </a:rPr>
              <a:t>measurement-grade ground truth, and a protocol a machine-learning reviewer would accept.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Everything after this slide </a:t>
            </a:r>
            <a:r>
              <a:rPr sz="1600">
                <a:solidFill>
                  <a:srgbClr val="262626"/>
                </a:solidFill>
                <a:latin typeface="Arial"/>
              </a:rPr>
              <a:t>is one of those two halves, or a result that needed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91" y="2258568"/>
            <a:ext cx="6102432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8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8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8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8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measId and reportConfigId are message-scoped, so a flat parse misattributes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57" y="2212848"/>
            <a:ext cx="930238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6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6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6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57 drives, two corridors, 938 signalling-confirmed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campaigns, two regimes. </a:t>
            </a:r>
            <a:r>
              <a:rPr sz="1900">
                <a:solidFill>
                  <a:srgbClr val="262626"/>
                </a:solidFill>
                <a:latin typeface="Arial"/>
              </a:rPr>
              <a:t>Three urban corridors, and one highway run to Gazipur at 49.5 km/h mean.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a median of 3.5 s apart - half are followed by another within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weak, and a quarter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24.5% of handovers go straight back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800">
                <a:solidFill>
                  <a:srgbClr val="262626"/>
                </a:solidFill>
                <a:latin typeface="Arial"/>
              </a:rPr>
              <a:t>on a uniform 1 Hz grid across 57 drives and four captures.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800">
                <a:solidFill>
                  <a:srgbClr val="262626"/>
                </a:solidFill>
                <a:latin typeface="Arial"/>
              </a:rPr>
              <a:t>from 3.7% at 0.5 s to 26.0% at 5 s - accuracy would be meaningless.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80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discrete-time survival problem, not five separate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034" y="2212848"/>
            <a:ext cx="882602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600">
                <a:solidFill>
                  <a:srgbClr val="262626"/>
                </a:solidFill>
                <a:latin typeface="Arial"/>
              </a:rPr>
              <a:t>A 1 s alarm above a 2 s alarm is impossible, yet 43.6% of rows did exactly that.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6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6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61" y="2212848"/>
            <a:ext cx="726577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600">
                <a:solidFill>
                  <a:srgbClr val="262626"/>
                </a:solidFill>
                <a:latin typeface="Arial"/>
              </a:rPr>
              <a:t>57 drives leave 8 in test, and a bootstrap over 8 groups is wide for the wrong reason.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6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6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75" y="2212848"/>
            <a:ext cx="8982744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10,260 samples and 938 handovers exactly.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twelve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AUPRC 0.784 at 1 s, </a:t>
            </a:r>
            <a:r>
              <a:rPr sz="1800">
                <a:solidFill>
                  <a:srgbClr val="262626"/>
                </a:solidFill>
                <a:latin typeface="Arial"/>
              </a:rPr>
              <a:t>11.7x the 6.7% prevalence floor, with an ECE of 0.024.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800">
                <a:solidFill>
                  <a:srgbClr val="262626"/>
                </a:solidFill>
                <a:latin typeface="Arial"/>
              </a:rPr>
              <a:t>On 57 drives the sequence models have nothing extra to learn.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800">
                <a:solidFill>
                  <a:srgbClr val="262626"/>
                </a:solidFill>
                <a:latin typeface="Arial"/>
              </a:rPr>
              <a:t>reaches AUROC 0.653 and detects 5.5% of handovers one second ahead.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800">
                <a:solidFill>
                  <a:srgbClr val="262626"/>
                </a:solidFill>
                <a:latin typeface="Arial"/>
              </a:rPr>
              <a:t>44.7% of handovers detected at 1 s, 65.1% at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57 drives from four captures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80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80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800">
                <a:solidFill>
                  <a:srgbClr val="262626"/>
                </a:solidFill>
                <a:latin typeface="Arial"/>
              </a:rPr>
              <a:t>maximum violation grows from 0.495 to 0.596.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80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80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80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80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800">
                <a:solidFill>
                  <a:srgbClr val="262626"/>
                </a:solidFill>
                <a:latin typeface="Arial"/>
              </a:rPr>
              <a:t>logistic regression's ECE was a class-weight artefact.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74%, logistic regression by 4%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80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80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80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826" y="2212848"/>
            <a:ext cx="715444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6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6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600">
                <a:solidFill>
                  <a:srgbClr val="262626"/>
                </a:solidFill>
                <a:latin typeface="Arial"/>
              </a:rPr>
              <a:t>at a 20% target the threshold alarms on 23% of samples.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6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8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800">
                <a:solidFill>
                  <a:srgbClr val="262626"/>
                </a:solidFill>
                <a:latin typeface="Arial"/>
              </a:rPr>
              <a:t>alarms on 23% of samples, misses 12.6% of handovers, bound held on 82% of test drives.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0.05 the alarm rate is 61%, </a:t>
            </a:r>
            <a:r>
              <a:rPr sz="18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8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fourth capture, a new corridor, twice the speed - and the same result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43106"/>
            <a:ext cx="6446520" cy="3570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highway run to Gazipur, </a:t>
            </a:r>
            <a:r>
              <a:rPr sz="1800">
                <a:solidFill>
                  <a:srgbClr val="262626"/>
                </a:solidFill>
                <a:latin typeface="Arial"/>
              </a:rPr>
              <a:t>49.5 km/h mean - driven after the model was frozen.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Adding it moved pooled AUROC by zero. </a:t>
            </a:r>
            <a:r>
              <a:rPr sz="1800">
                <a:solidFill>
                  <a:srgbClr val="262626"/>
                </a:solidFill>
                <a:latin typeface="Arial"/>
              </a:rPr>
              <a:t>0.933 before, 0.933 after.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Held out whole it scores 0.927, </a:t>
            </a:r>
            <a:r>
              <a:rPr sz="1800">
                <a:solidFill>
                  <a:srgbClr val="262626"/>
                </a:solidFill>
                <a:latin typeface="Arial"/>
              </a:rPr>
              <a:t>with the highest lift and lowest calibration error of the four.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Failures collapse too: </a:t>
            </a:r>
            <a:r>
              <a:rPr sz="1800">
                <a:solidFill>
                  <a:srgbClr val="262626"/>
                </a:solidFill>
                <a:latin typeface="Arial"/>
              </a:rPr>
              <a:t>159 in the urban core, 5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21: train on three captures, test on the fourth, four times over. Four captures give four points - a strong design, not a large sample.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16885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8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8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Nothing is shared across the boundary: </a:t>
            </a:r>
            <a:r>
              <a:rPr sz="1800">
                <a:solidFill>
                  <a:srgbClr val="262626"/>
                </a:solidFill>
                <a:latin typeface="Arial"/>
              </a:rPr>
              <a:t>no drive, no route, no cell, and the scaler is refitted on the target side.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8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GENERALISATION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64" y="2258568"/>
            <a:ext cx="6300886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8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8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Why: </a:t>
            </a:r>
            <a:r>
              <a:rPr sz="18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8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57 drives.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 / NEW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declined, and most of all on the highway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58" y="2212848"/>
            <a:ext cx="887697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62.9% of A3 reports declined at 2 s </a:t>
            </a:r>
            <a:r>
              <a:rPr sz="1600">
                <a:solidFill>
                  <a:srgbClr val="262626"/>
                </a:solidFill>
                <a:latin typeface="Arial"/>
              </a:rPr>
              <a:t>- report set and window stated, because both move the number.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rises with cell size: </a:t>
            </a:r>
            <a:r>
              <a:rPr sz="16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Reporting a condition is not acting on it. </a:t>
            </a:r>
            <a:r>
              <a:rPr sz="1600">
                <a:solidFill>
                  <a:srgbClr val="262626"/>
                </a:solidFill>
                <a:latin typeface="Arial"/>
              </a:rPr>
              <a:t>The entering condition is necessary, nowhere near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Ghoshal et al. (2025) report 69-87% non-conversion across three US operators; their report set and window are not stated, so the comparison is directional.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Branching ratio 0.605 </a:t>
            </a:r>
            <a:r>
              <a:rPr sz="1800">
                <a:solidFill>
                  <a:srgbClr val="262626"/>
                </a:solidFill>
                <a:latin typeface="Arial"/>
              </a:rPr>
              <a:t>[0.524, 0.673], stable across four captures and two mobility regimes.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8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8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8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four captures and 930 events; the highway capture sits lowest at 0.513, as wider cells should.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same 938 handovers give a ping-pong rate anywhere from 24.5% to 41.3%</a:t>
            </a:r>
          </a:p>
        </p:txBody>
      </p:sp>
      <p:pic>
        <p:nvPicPr>
          <p:cNvPr id="5" name="Picture 4" descr="fig23_pingpong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09114"/>
            <a:ext cx="6446520" cy="3638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choices, rarely stated. </a:t>
            </a:r>
            <a:r>
              <a:rPr sz="1800">
                <a:solidFill>
                  <a:srgbClr val="262626"/>
                </a:solidFill>
                <a:latin typeface="Arial"/>
              </a:rPr>
              <a:t>Same cell? Immediate return? Which events count?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Cell identity: 4.5 points. </a:t>
            </a:r>
            <a:r>
              <a:rPr sz="1800">
                <a:solidFill>
                  <a:srgbClr val="262626"/>
                </a:solidFill>
                <a:latin typeface="Arial"/>
              </a:rPr>
              <a:t>Six carriers, and PCIs repeat across them.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return rule: 9.5 points. </a:t>
            </a:r>
            <a:r>
              <a:rPr sz="1800">
                <a:solidFill>
                  <a:srgbClr val="262626"/>
                </a:solidFill>
                <a:latin typeface="Arial"/>
              </a:rPr>
              <a:t>Handovers come a median 3.5 s apart.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published rates </a:t>
            </a:r>
            <a:r>
              <a:rPr sz="1800">
                <a:solidFill>
                  <a:srgbClr val="262626"/>
                </a:solidFill>
                <a:latin typeface="Arial"/>
              </a:rPr>
              <a:t>are not comparable. That is a finding, not a complaint.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All four rows computed on the same 938 signalling-confirmed handovers. The thesis quotes the top row and states all three choices with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Ping-pong is one carrier layer and one A3 profile, not speed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60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times the rate </a:t>
            </a:r>
            <a:r>
              <a:rPr sz="1800">
                <a:solidFill>
                  <a:srgbClr val="262626"/>
                </a:solidFill>
                <a:latin typeface="Arial"/>
              </a:rPr>
              <a:t>when the handover stays on its carrier: 31.0% vs 6.5%.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Not the negative offsets. </a:t>
            </a:r>
            <a:r>
              <a:rPr sz="1800">
                <a:solidFill>
                  <a:srgbClr val="262626"/>
                </a:solidFill>
                <a:latin typeface="Arial"/>
              </a:rPr>
              <a:t>-15 and -10 dB are the inter-frequency profiles.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profile carries it: </a:t>
            </a:r>
            <a:r>
              <a:rPr sz="1800">
                <a:solidFill>
                  <a:srgbClr val="262626"/>
                </a:solidFill>
                <a:latin typeface="Arial"/>
              </a:rPr>
              <a:t>+1 dB, 320 ms TTT, 72% of all handovers, 29.2%.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lever is that TTT. </a:t>
            </a:r>
            <a:r>
              <a:rPr sz="1800">
                <a:solidFill>
                  <a:srgbClr val="262626"/>
                </a:solidFill>
                <a:latin typeface="Arial"/>
              </a:rPr>
              <a:t>Not speed: the highway still returns 31.1%.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flagged as A to B and straight back within 15 s, cell identified by PCI and carrier.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" y="2258568"/>
            <a:ext cx="616525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8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8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800">
                <a:solidFill>
                  <a:srgbClr val="262626"/>
                </a:solidFill>
                <a:latin typeface="Arial"/>
              </a:rPr>
              <a:t>a dedicated ping-pong model reaches AUROC 0.51 -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8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0.489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1" y="2212848"/>
            <a:ext cx="937131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600">
                <a:solidFill>
                  <a:srgbClr val="262626"/>
                </a:solidFill>
                <a:latin typeface="Arial"/>
              </a:rPr>
              <a:t>then scored generously on the rows its own dataset always has.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6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600">
                <a:solidFill>
                  <a:srgbClr val="262626"/>
                </a:solidFill>
                <a:latin typeface="Arial"/>
              </a:rPr>
              <a:t>0.624 against 0.489 - the reinforcement learning adds nothing the reward did not already contain.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two comparisons with the literature that are actually fair</a:t>
            </a:r>
          </a:p>
        </p:txBody>
      </p:sp>
      <p:pic>
        <p:nvPicPr>
          <p:cNvPr id="5" name="Picture 4" descr="fig26_literature_headto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3639"/>
            <a:ext cx="6446520" cy="3089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Left: reimplemented, not quoted. </a:t>
            </a:r>
            <a:r>
              <a:rPr sz="1800">
                <a:solidFill>
                  <a:srgbClr val="262626"/>
                </a:solidFill>
                <a:latin typeface="Arial"/>
              </a:rPr>
              <a:t>Same 654 rows, same protocol.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Right: why headlines do not travel. </a:t>
            </a:r>
            <a:r>
              <a:rPr sz="1800">
                <a:solidFill>
                  <a:srgbClr val="262626"/>
                </a:solidFill>
                <a:latin typeface="Arial"/>
              </a:rPr>
              <a:t>Always saying no scores 93.3% accuracy here - and 6.7% AUPRC.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7 of 22 audited papers </a:t>
            </a:r>
            <a:r>
              <a:rPr sz="1800">
                <a:solidFill>
                  <a:srgbClr val="262626"/>
                </a:solidFill>
                <a:latin typeface="Arial"/>
              </a:rPr>
              <a:t>quote accuracy on an imbalanced task.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we compare on protocol </a:t>
            </a:r>
            <a:r>
              <a:rPr sz="1800">
                <a:solidFill>
                  <a:srgbClr val="262626"/>
                </a:solidFill>
                <a:latin typeface="Arial"/>
              </a:rPr>
              <a:t>and on reimplementation, never across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Stage 20 on the four-capture dataset. Cross-dataset accuracy comparisons are not made anywhere in this work.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24619"/>
            <a:ext cx="6446520" cy="340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80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80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Three things moved the result: </a:t>
            </a:r>
            <a:r>
              <a:rPr sz="1800">
                <a:solidFill>
                  <a:srgbClr val="262626"/>
                </a:solidFill>
                <a:latin typeface="Arial"/>
              </a:rPr>
              <a:t>reformulating the target, the configuration regime, and grouping the split by drive.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57 drives, two corridors, one operator, four days. Enough for grouped cross-validation with 57 bootstrap groups and a four-point leave-one-capture-out design; not enough to claim generality across cities or operators.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0.784 at 1 s on signalling ground truth - nearly twelve times the prevalence floor, with calibrated probabilities and a per-drive bound. Unchanged when a highway capture was added.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rate tracks cell size: </a:t>
            </a:r>
            <a:r>
              <a:rPr sz="1700">
                <a:solidFill>
                  <a:srgbClr val="262626"/>
                </a:solidFill>
                <a:latin typeface="Arial"/>
              </a:rPr>
              <a:t>57.2% urban arterial, 63.3% dense urban, 71.9% on the highway.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predictor for this task </a:t>
            </a:r>
            <a:r>
              <a:rPr sz="1700">
                <a:solidFill>
                  <a:srgbClr val="262626"/>
                </a:solidFill>
                <a:latin typeface="Arial"/>
              </a:rPr>
              <a:t>is left for future work; on four captures it does not yet separate.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F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it is pointed</a:t>
            </a:r>
          </a:p>
        </p:txBody>
      </p:sp>
      <p:pic>
        <p:nvPicPr>
          <p:cNvPr id="5" name="Picture 4" descr="m12_prov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52" y="2212848"/>
            <a:ext cx="808519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here is invented. </a:t>
            </a:r>
            <a:r>
              <a:rPr sz="1600">
                <a:solidFill>
                  <a:srgbClr val="262626"/>
                </a:solidFill>
                <a:latin typeface="Arial"/>
              </a:rPr>
              <a:t>Every component has a primary source.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Residual-testing a Hawkes fit is the local norm </a:t>
            </a:r>
            <a:r>
              <a:rPr sz="1600">
                <a:solidFill>
                  <a:srgbClr val="262626"/>
                </a:solidFill>
                <a:latin typeface="Arial"/>
              </a:rPr>
              <a:t>in network traffic, not a flourish.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CORAL null is credible: </a:t>
            </a:r>
            <a:r>
              <a:rPr sz="1600">
                <a:solidFill>
                  <a:srgbClr val="262626"/>
                </a:solidFill>
                <a:latin typeface="Arial"/>
              </a:rPr>
              <a:t>a nine-method benchmark finds published adaptors losing to source-only training.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Primary sources cited in the section that uses each method, not only in related work.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G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- 74% for a GRU against 4%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